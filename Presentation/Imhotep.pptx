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0693400" cy="7556500"/>
  <p:notesSz cx="6858000" cy="9144000"/>
  <p:embeddedFontLst>
    <p:embeddedFont>
      <p:font typeface="Londrina Solid" charset="1" panose="00000500000000000000"/>
      <p:regular r:id="rId20"/>
    </p:embeddedFont>
    <p:embeddedFont>
      <p:font typeface="Londrina Solid Heavy" charset="1" panose="00000A00000000000000"/>
      <p:regular r:id="rId21"/>
    </p:embeddedFont>
    <p:embeddedFont>
      <p:font typeface="DM Sans Bold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jpeg" Type="http://schemas.openxmlformats.org/officeDocument/2006/relationships/image"/><Relationship Id="rId11" Target="../media/VAG2hoyP3e8.mp4" Type="http://schemas.openxmlformats.org/officeDocument/2006/relationships/video"/><Relationship Id="rId12" Target="../media/VAG2hoyP3e8.mp4" Type="http://schemas.microsoft.com/office/2007/relationships/media"/><Relationship Id="rId13" Target="../media/image2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11" Target="../media/image7.png" Type="http://schemas.openxmlformats.org/officeDocument/2006/relationships/image"/><Relationship Id="rId12" Target="../media/image8.svg" Type="http://schemas.openxmlformats.org/officeDocument/2006/relationships/image"/><Relationship Id="rId13" Target="../media/image30.gif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gif" Type="http://schemas.openxmlformats.org/officeDocument/2006/relationships/image"/><Relationship Id="rId9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1DAF8">
                <a:alpha val="100000"/>
              </a:srgbClr>
            </a:gs>
            <a:gs pos="100000">
              <a:srgbClr val="D4F0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7226" y="418476"/>
            <a:ext cx="9545950" cy="6723048"/>
            <a:chOff x="0" y="0"/>
            <a:chExt cx="5557619" cy="3914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57620" cy="3914134"/>
            </a:xfrm>
            <a:custGeom>
              <a:avLst/>
              <a:gdLst/>
              <a:ahLst/>
              <a:cxnLst/>
              <a:rect r="r" b="b" t="t" l="l"/>
              <a:pathLst>
                <a:path h="3914134" w="5557620">
                  <a:moveTo>
                    <a:pt x="53932" y="3346126"/>
                  </a:moveTo>
                  <a:cubicBezTo>
                    <a:pt x="53932" y="3346126"/>
                    <a:pt x="-9098" y="3099562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4669778" y="456"/>
                  </a:cubicBezTo>
                  <a:cubicBezTo>
                    <a:pt x="4886527" y="10310"/>
                    <a:pt x="5090842" y="29972"/>
                    <a:pt x="5225030" y="95181"/>
                  </a:cubicBezTo>
                  <a:cubicBezTo>
                    <a:pt x="5481076" y="219611"/>
                    <a:pt x="5562851" y="452651"/>
                    <a:pt x="5557363" y="698175"/>
                  </a:cubicBezTo>
                  <a:cubicBezTo>
                    <a:pt x="5557363" y="698175"/>
                    <a:pt x="5514075" y="1006564"/>
                    <a:pt x="5521509" y="1242098"/>
                  </a:cubicBezTo>
                  <a:cubicBezTo>
                    <a:pt x="5528632" y="3087928"/>
                    <a:pt x="5535789" y="3283531"/>
                    <a:pt x="5535789" y="3283531"/>
                  </a:cubicBezTo>
                  <a:cubicBezTo>
                    <a:pt x="5519107" y="3499263"/>
                    <a:pt x="5404463" y="3709875"/>
                    <a:pt x="5207594" y="3821499"/>
                  </a:cubicBezTo>
                  <a:cubicBezTo>
                    <a:pt x="5057242" y="3906748"/>
                    <a:pt x="4859212" y="3921845"/>
                    <a:pt x="3855973" y="3911104"/>
                  </a:cubicBezTo>
                  <a:cubicBezTo>
                    <a:pt x="636854" y="3905827"/>
                    <a:pt x="375506" y="3939680"/>
                    <a:pt x="245180" y="3830522"/>
                  </a:cubicBezTo>
                  <a:cubicBezTo>
                    <a:pt x="136669" y="3739637"/>
                    <a:pt x="72697" y="3546325"/>
                    <a:pt x="53932" y="33461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20984" y="-130467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7" y="0"/>
                </a:lnTo>
                <a:lnTo>
                  <a:pt x="1839837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54789" y="-351715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8" y="0"/>
                </a:lnTo>
                <a:lnTo>
                  <a:pt x="1839838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830279" y="970118"/>
            <a:ext cx="7099845" cy="672349"/>
            <a:chOff x="0" y="0"/>
            <a:chExt cx="2848626" cy="2697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48626" cy="269762"/>
            </a:xfrm>
            <a:custGeom>
              <a:avLst/>
              <a:gdLst/>
              <a:ahLst/>
              <a:cxnLst/>
              <a:rect r="r" b="b" t="t" l="l"/>
              <a:pathLst>
                <a:path h="269762" w="2848626">
                  <a:moveTo>
                    <a:pt x="16357" y="0"/>
                  </a:moveTo>
                  <a:lnTo>
                    <a:pt x="2832269" y="0"/>
                  </a:lnTo>
                  <a:cubicBezTo>
                    <a:pt x="2841303" y="0"/>
                    <a:pt x="2848626" y="7323"/>
                    <a:pt x="2848626" y="16357"/>
                  </a:cubicBezTo>
                  <a:lnTo>
                    <a:pt x="2848626" y="253406"/>
                  </a:lnTo>
                  <a:cubicBezTo>
                    <a:pt x="2848626" y="257744"/>
                    <a:pt x="2846902" y="261904"/>
                    <a:pt x="2843835" y="264972"/>
                  </a:cubicBezTo>
                  <a:cubicBezTo>
                    <a:pt x="2840767" y="268039"/>
                    <a:pt x="2836607" y="269762"/>
                    <a:pt x="2832269" y="269762"/>
                  </a:cubicBezTo>
                  <a:lnTo>
                    <a:pt x="16357" y="269762"/>
                  </a:lnTo>
                  <a:cubicBezTo>
                    <a:pt x="12019" y="269762"/>
                    <a:pt x="7858" y="268039"/>
                    <a:pt x="4791" y="264972"/>
                  </a:cubicBezTo>
                  <a:cubicBezTo>
                    <a:pt x="1723" y="261904"/>
                    <a:pt x="0" y="257744"/>
                    <a:pt x="0" y="253406"/>
                  </a:cubicBezTo>
                  <a:lnTo>
                    <a:pt x="0" y="16357"/>
                  </a:lnTo>
                  <a:cubicBezTo>
                    <a:pt x="0" y="12019"/>
                    <a:pt x="1723" y="7858"/>
                    <a:pt x="4791" y="4791"/>
                  </a:cubicBezTo>
                  <a:cubicBezTo>
                    <a:pt x="7858" y="1723"/>
                    <a:pt x="12019" y="0"/>
                    <a:pt x="1635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848626" cy="336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39"/>
                </a:lnSpc>
              </a:pPr>
              <a:r>
                <a:rPr lang="en-US" sz="3099" spc="68">
                  <a:solidFill>
                    <a:srgbClr val="0F1519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PROJECT IMHOTEP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563094" y="219794"/>
            <a:ext cx="1634214" cy="629915"/>
          </a:xfrm>
          <a:custGeom>
            <a:avLst/>
            <a:gdLst/>
            <a:ahLst/>
            <a:cxnLst/>
            <a:rect r="r" b="b" t="t" l="l"/>
            <a:pathLst>
              <a:path h="629915" w="1634214">
                <a:moveTo>
                  <a:pt x="0" y="0"/>
                </a:moveTo>
                <a:lnTo>
                  <a:pt x="1634215" y="0"/>
                </a:lnTo>
                <a:lnTo>
                  <a:pt x="1634215" y="629915"/>
                </a:lnTo>
                <a:lnTo>
                  <a:pt x="0" y="629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892655" y="1700628"/>
            <a:ext cx="4975092" cy="2895731"/>
            <a:chOff x="0" y="0"/>
            <a:chExt cx="1782961" cy="10377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82961" cy="1037765"/>
            </a:xfrm>
            <a:custGeom>
              <a:avLst/>
              <a:gdLst/>
              <a:ahLst/>
              <a:cxnLst/>
              <a:rect r="r" b="b" t="t" l="l"/>
              <a:pathLst>
                <a:path h="1037765" w="1782961">
                  <a:moveTo>
                    <a:pt x="57577" y="0"/>
                  </a:moveTo>
                  <a:lnTo>
                    <a:pt x="1725384" y="0"/>
                  </a:lnTo>
                  <a:cubicBezTo>
                    <a:pt x="1740654" y="0"/>
                    <a:pt x="1755299" y="6066"/>
                    <a:pt x="1766097" y="16864"/>
                  </a:cubicBezTo>
                  <a:cubicBezTo>
                    <a:pt x="1776895" y="27662"/>
                    <a:pt x="1782961" y="42307"/>
                    <a:pt x="1782961" y="57577"/>
                  </a:cubicBezTo>
                  <a:lnTo>
                    <a:pt x="1782961" y="980188"/>
                  </a:lnTo>
                  <a:cubicBezTo>
                    <a:pt x="1782961" y="995458"/>
                    <a:pt x="1776895" y="1010103"/>
                    <a:pt x="1766097" y="1020901"/>
                  </a:cubicBezTo>
                  <a:cubicBezTo>
                    <a:pt x="1755299" y="1031699"/>
                    <a:pt x="1740654" y="1037765"/>
                    <a:pt x="1725384" y="1037765"/>
                  </a:cubicBezTo>
                  <a:lnTo>
                    <a:pt x="57577" y="1037765"/>
                  </a:lnTo>
                  <a:cubicBezTo>
                    <a:pt x="42307" y="1037765"/>
                    <a:pt x="27662" y="1031699"/>
                    <a:pt x="16864" y="1020901"/>
                  </a:cubicBezTo>
                  <a:cubicBezTo>
                    <a:pt x="6066" y="1010103"/>
                    <a:pt x="0" y="995458"/>
                    <a:pt x="0" y="980188"/>
                  </a:cubicBezTo>
                  <a:lnTo>
                    <a:pt x="0" y="57577"/>
                  </a:lnTo>
                  <a:cubicBezTo>
                    <a:pt x="0" y="42307"/>
                    <a:pt x="6066" y="27662"/>
                    <a:pt x="16864" y="16864"/>
                  </a:cubicBezTo>
                  <a:cubicBezTo>
                    <a:pt x="27662" y="6066"/>
                    <a:pt x="42307" y="0"/>
                    <a:pt x="57577" y="0"/>
                  </a:cubicBezTo>
                  <a:close/>
                </a:path>
              </a:pathLst>
            </a:custGeom>
            <a:solidFill>
              <a:srgbClr val="A9DDF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782961" cy="1104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 spc="61">
                  <a:solidFill>
                    <a:srgbClr val="000000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TEAM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 spc="48">
                  <a:solidFill>
                    <a:srgbClr val="000000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Syed Sami Sayem - 20245103247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 spc="48">
                  <a:solidFill>
                    <a:srgbClr val="000000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Sourav Chandra Shil - 20245103254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 spc="48">
                  <a:solidFill>
                    <a:srgbClr val="000000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Tasmia Anwar Nisa - 20245103261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 spc="48">
                  <a:solidFill>
                    <a:srgbClr val="000000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Raisa Sadik Smrity - 20245103248</a:t>
              </a:r>
            </a:p>
            <a:p>
              <a:pPr algn="ctr">
                <a:lnSpc>
                  <a:spcPts val="2939"/>
                </a:lnSpc>
              </a:pPr>
              <a:r>
                <a:rPr lang="en-US" sz="2099" spc="46">
                  <a:solidFill>
                    <a:srgbClr val="000000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Tanvir Islam -20245103244</a:t>
              </a:r>
            </a:p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892655" y="4720184"/>
            <a:ext cx="5097567" cy="2785945"/>
            <a:chOff x="0" y="0"/>
            <a:chExt cx="1826853" cy="9984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26853" cy="998420"/>
            </a:xfrm>
            <a:custGeom>
              <a:avLst/>
              <a:gdLst/>
              <a:ahLst/>
              <a:cxnLst/>
              <a:rect r="r" b="b" t="t" l="l"/>
              <a:pathLst>
                <a:path h="998420" w="1826853">
                  <a:moveTo>
                    <a:pt x="56194" y="0"/>
                  </a:moveTo>
                  <a:lnTo>
                    <a:pt x="1770659" y="0"/>
                  </a:lnTo>
                  <a:cubicBezTo>
                    <a:pt x="1801694" y="0"/>
                    <a:pt x="1826853" y="25159"/>
                    <a:pt x="1826853" y="56194"/>
                  </a:cubicBezTo>
                  <a:lnTo>
                    <a:pt x="1826853" y="942226"/>
                  </a:lnTo>
                  <a:cubicBezTo>
                    <a:pt x="1826853" y="973261"/>
                    <a:pt x="1801694" y="998420"/>
                    <a:pt x="1770659" y="998420"/>
                  </a:cubicBezTo>
                  <a:lnTo>
                    <a:pt x="56194" y="998420"/>
                  </a:lnTo>
                  <a:cubicBezTo>
                    <a:pt x="25159" y="998420"/>
                    <a:pt x="0" y="973261"/>
                    <a:pt x="0" y="942226"/>
                  </a:cubicBezTo>
                  <a:lnTo>
                    <a:pt x="0" y="56194"/>
                  </a:lnTo>
                  <a:cubicBezTo>
                    <a:pt x="0" y="25159"/>
                    <a:pt x="25159" y="0"/>
                    <a:pt x="56194" y="0"/>
                  </a:cubicBezTo>
                  <a:close/>
                </a:path>
              </a:pathLst>
            </a:custGeom>
            <a:solidFill>
              <a:srgbClr val="9DD6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826853" cy="1065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 spc="61">
                  <a:solidFill>
                    <a:srgbClr val="000000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FACULTY</a:t>
              </a:r>
            </a:p>
            <a:p>
              <a:pPr algn="ctr">
                <a:lnSpc>
                  <a:spcPts val="3080"/>
                </a:lnSpc>
              </a:pPr>
              <a:r>
                <a:rPr lang="en-US" sz="2200" spc="48">
                  <a:solidFill>
                    <a:srgbClr val="000000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Farha Akter Munmun</a:t>
              </a:r>
            </a:p>
            <a:p>
              <a:pPr algn="ctr">
                <a:lnSpc>
                  <a:spcPts val="3080"/>
                </a:lnSpc>
              </a:pPr>
              <a:r>
                <a:rPr lang="en-US" b="true" sz="2200" spc="48">
                  <a:solidFill>
                    <a:srgbClr val="000000"/>
                  </a:solidFill>
                  <a:latin typeface="Londrina Solid Heavy"/>
                  <a:ea typeface="Londrina Solid Heavy"/>
                  <a:cs typeface="Londrina Solid Heavy"/>
                  <a:sym typeface="Londrina Solid Heavy"/>
                </a:rPr>
                <a:t>Assistant Professor</a:t>
              </a:r>
            </a:p>
            <a:p>
              <a:pPr algn="ctr">
                <a:lnSpc>
                  <a:spcPts val="3080"/>
                </a:lnSpc>
              </a:pPr>
              <a:r>
                <a:rPr lang="en-US" b="true" sz="2200" spc="48">
                  <a:solidFill>
                    <a:srgbClr val="000000"/>
                  </a:solidFill>
                  <a:latin typeface="Londrina Solid Heavy"/>
                  <a:ea typeface="Londrina Solid Heavy"/>
                  <a:cs typeface="Londrina Solid Heavy"/>
                  <a:sym typeface="Londrina Solid Heavy"/>
                </a:rPr>
                <a:t>Dept. of CSE</a:t>
              </a:r>
            </a:p>
            <a:p>
              <a:pPr algn="ctr">
                <a:lnSpc>
                  <a:spcPts val="3080"/>
                </a:lnSpc>
              </a:pPr>
              <a:r>
                <a:rPr lang="en-US" sz="2200" spc="48">
                  <a:solidFill>
                    <a:srgbClr val="000000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Bangladesh University Of Business And Technology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3503" y="5878377"/>
            <a:ext cx="1633396" cy="1478966"/>
          </a:xfrm>
          <a:custGeom>
            <a:avLst/>
            <a:gdLst/>
            <a:ahLst/>
            <a:cxnLst/>
            <a:rect r="r" b="b" t="t" l="l"/>
            <a:pathLst>
              <a:path h="1478966" w="1633396">
                <a:moveTo>
                  <a:pt x="0" y="0"/>
                </a:moveTo>
                <a:lnTo>
                  <a:pt x="1633396" y="0"/>
                </a:lnTo>
                <a:lnTo>
                  <a:pt x="1633396" y="1478966"/>
                </a:lnTo>
                <a:lnTo>
                  <a:pt x="0" y="14789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958676" y="6151880"/>
            <a:ext cx="1733324" cy="1377205"/>
          </a:xfrm>
          <a:custGeom>
            <a:avLst/>
            <a:gdLst/>
            <a:ahLst/>
            <a:cxnLst/>
            <a:rect r="r" b="b" t="t" l="l"/>
            <a:pathLst>
              <a:path h="1377205" w="1733324">
                <a:moveTo>
                  <a:pt x="0" y="0"/>
                </a:moveTo>
                <a:lnTo>
                  <a:pt x="1733324" y="0"/>
                </a:lnTo>
                <a:lnTo>
                  <a:pt x="1733324" y="1377205"/>
                </a:lnTo>
                <a:lnTo>
                  <a:pt x="0" y="13772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1DAF8">
                <a:alpha val="100000"/>
              </a:srgbClr>
            </a:gs>
            <a:gs pos="100000">
              <a:srgbClr val="D4F0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7226" y="654061"/>
            <a:ext cx="9545950" cy="6723048"/>
            <a:chOff x="0" y="0"/>
            <a:chExt cx="5557619" cy="3914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57620" cy="3914134"/>
            </a:xfrm>
            <a:custGeom>
              <a:avLst/>
              <a:gdLst/>
              <a:ahLst/>
              <a:cxnLst/>
              <a:rect r="r" b="b" t="t" l="l"/>
              <a:pathLst>
                <a:path h="3914134" w="5557620">
                  <a:moveTo>
                    <a:pt x="53932" y="3346126"/>
                  </a:moveTo>
                  <a:cubicBezTo>
                    <a:pt x="53932" y="3346126"/>
                    <a:pt x="-9098" y="3099562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4669778" y="456"/>
                  </a:cubicBezTo>
                  <a:cubicBezTo>
                    <a:pt x="4886527" y="10310"/>
                    <a:pt x="5090842" y="29972"/>
                    <a:pt x="5225030" y="95181"/>
                  </a:cubicBezTo>
                  <a:cubicBezTo>
                    <a:pt x="5481076" y="219611"/>
                    <a:pt x="5562851" y="452651"/>
                    <a:pt x="5557363" y="698175"/>
                  </a:cubicBezTo>
                  <a:cubicBezTo>
                    <a:pt x="5557363" y="698175"/>
                    <a:pt x="5514075" y="1006564"/>
                    <a:pt x="5521509" y="1242098"/>
                  </a:cubicBezTo>
                  <a:cubicBezTo>
                    <a:pt x="5528632" y="3087928"/>
                    <a:pt x="5535789" y="3283531"/>
                    <a:pt x="5535789" y="3283531"/>
                  </a:cubicBezTo>
                  <a:cubicBezTo>
                    <a:pt x="5519107" y="3499263"/>
                    <a:pt x="5404463" y="3709875"/>
                    <a:pt x="5207594" y="3821499"/>
                  </a:cubicBezTo>
                  <a:cubicBezTo>
                    <a:pt x="5057242" y="3906748"/>
                    <a:pt x="4859212" y="3921845"/>
                    <a:pt x="3855973" y="3911104"/>
                  </a:cubicBezTo>
                  <a:cubicBezTo>
                    <a:pt x="636854" y="3905827"/>
                    <a:pt x="375506" y="3939680"/>
                    <a:pt x="245180" y="3830522"/>
                  </a:cubicBezTo>
                  <a:cubicBezTo>
                    <a:pt x="136669" y="3739637"/>
                    <a:pt x="72697" y="3546325"/>
                    <a:pt x="53932" y="33461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20984" y="-130467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7" y="0"/>
                </a:lnTo>
                <a:lnTo>
                  <a:pt x="1839837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54789" y="-351715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8" y="0"/>
                </a:lnTo>
                <a:lnTo>
                  <a:pt x="1839838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825516" y="1085044"/>
            <a:ext cx="7310198" cy="672349"/>
            <a:chOff x="0" y="0"/>
            <a:chExt cx="2933024" cy="2697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33024" cy="269762"/>
            </a:xfrm>
            <a:custGeom>
              <a:avLst/>
              <a:gdLst/>
              <a:ahLst/>
              <a:cxnLst/>
              <a:rect r="r" b="b" t="t" l="l"/>
              <a:pathLst>
                <a:path h="269762" w="2933024">
                  <a:moveTo>
                    <a:pt x="15886" y="0"/>
                  </a:moveTo>
                  <a:lnTo>
                    <a:pt x="2917138" y="0"/>
                  </a:lnTo>
                  <a:cubicBezTo>
                    <a:pt x="2925912" y="0"/>
                    <a:pt x="2933024" y="7112"/>
                    <a:pt x="2933024" y="15886"/>
                  </a:cubicBezTo>
                  <a:lnTo>
                    <a:pt x="2933024" y="253876"/>
                  </a:lnTo>
                  <a:cubicBezTo>
                    <a:pt x="2933024" y="262650"/>
                    <a:pt x="2925912" y="269762"/>
                    <a:pt x="2917138" y="269762"/>
                  </a:cubicBezTo>
                  <a:lnTo>
                    <a:pt x="15886" y="269762"/>
                  </a:lnTo>
                  <a:cubicBezTo>
                    <a:pt x="11673" y="269762"/>
                    <a:pt x="7632" y="268089"/>
                    <a:pt x="4653" y="265109"/>
                  </a:cubicBezTo>
                  <a:cubicBezTo>
                    <a:pt x="1674" y="262130"/>
                    <a:pt x="0" y="258090"/>
                    <a:pt x="0" y="253876"/>
                  </a:cubicBezTo>
                  <a:lnTo>
                    <a:pt x="0" y="15886"/>
                  </a:lnTo>
                  <a:cubicBezTo>
                    <a:pt x="0" y="7112"/>
                    <a:pt x="7112" y="0"/>
                    <a:pt x="158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933024" cy="336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39"/>
                </a:lnSpc>
              </a:pPr>
              <a:r>
                <a:rPr lang="en-US" sz="3099" spc="68">
                  <a:solidFill>
                    <a:srgbClr val="0F1519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PROJECT IMHOTEP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563094" y="219794"/>
            <a:ext cx="1634214" cy="629915"/>
          </a:xfrm>
          <a:custGeom>
            <a:avLst/>
            <a:gdLst/>
            <a:ahLst/>
            <a:cxnLst/>
            <a:rect r="r" b="b" t="t" l="l"/>
            <a:pathLst>
              <a:path h="629915" w="1634214">
                <a:moveTo>
                  <a:pt x="0" y="0"/>
                </a:moveTo>
                <a:lnTo>
                  <a:pt x="1634215" y="0"/>
                </a:lnTo>
                <a:lnTo>
                  <a:pt x="1634215" y="629915"/>
                </a:lnTo>
                <a:lnTo>
                  <a:pt x="0" y="629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999">
            <a:off x="1825010" y="2185131"/>
            <a:ext cx="2413135" cy="586463"/>
          </a:xfrm>
          <a:custGeom>
            <a:avLst/>
            <a:gdLst/>
            <a:ahLst/>
            <a:cxnLst/>
            <a:rect r="r" b="b" t="t" l="l"/>
            <a:pathLst>
              <a:path h="586463" w="2413135">
                <a:moveTo>
                  <a:pt x="0" y="4210"/>
                </a:moveTo>
                <a:lnTo>
                  <a:pt x="2412119" y="0"/>
                </a:lnTo>
                <a:lnTo>
                  <a:pt x="2413135" y="582254"/>
                </a:lnTo>
                <a:lnTo>
                  <a:pt x="1016" y="586464"/>
                </a:lnTo>
                <a:lnTo>
                  <a:pt x="0" y="421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88" t="451" r="20" b="-736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999">
            <a:off x="1825010" y="2998993"/>
            <a:ext cx="2413135" cy="586463"/>
          </a:xfrm>
          <a:custGeom>
            <a:avLst/>
            <a:gdLst/>
            <a:ahLst/>
            <a:cxnLst/>
            <a:rect r="r" b="b" t="t" l="l"/>
            <a:pathLst>
              <a:path h="586463" w="2413135">
                <a:moveTo>
                  <a:pt x="0" y="4209"/>
                </a:moveTo>
                <a:lnTo>
                  <a:pt x="2412119" y="0"/>
                </a:lnTo>
                <a:lnTo>
                  <a:pt x="2413135" y="582253"/>
                </a:lnTo>
                <a:lnTo>
                  <a:pt x="1016" y="586463"/>
                </a:lnTo>
                <a:lnTo>
                  <a:pt x="0" y="42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88" t="451" r="20" b="-736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999">
            <a:off x="1836732" y="3898799"/>
            <a:ext cx="2413135" cy="586463"/>
          </a:xfrm>
          <a:custGeom>
            <a:avLst/>
            <a:gdLst/>
            <a:ahLst/>
            <a:cxnLst/>
            <a:rect r="r" b="b" t="t" l="l"/>
            <a:pathLst>
              <a:path h="586463" w="2413135">
                <a:moveTo>
                  <a:pt x="0" y="4210"/>
                </a:moveTo>
                <a:lnTo>
                  <a:pt x="2412118" y="0"/>
                </a:lnTo>
                <a:lnTo>
                  <a:pt x="2413135" y="582254"/>
                </a:lnTo>
                <a:lnTo>
                  <a:pt x="1016" y="586464"/>
                </a:lnTo>
                <a:lnTo>
                  <a:pt x="0" y="421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88" t="451" r="20" b="-736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5999">
            <a:off x="1836732" y="4843004"/>
            <a:ext cx="2413135" cy="586463"/>
          </a:xfrm>
          <a:custGeom>
            <a:avLst/>
            <a:gdLst/>
            <a:ahLst/>
            <a:cxnLst/>
            <a:rect r="r" b="b" t="t" l="l"/>
            <a:pathLst>
              <a:path h="586463" w="2413135">
                <a:moveTo>
                  <a:pt x="0" y="4210"/>
                </a:moveTo>
                <a:lnTo>
                  <a:pt x="2412118" y="0"/>
                </a:lnTo>
                <a:lnTo>
                  <a:pt x="2413135" y="582253"/>
                </a:lnTo>
                <a:lnTo>
                  <a:pt x="1016" y="586463"/>
                </a:lnTo>
                <a:lnTo>
                  <a:pt x="0" y="421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88" t="451" r="20" b="-736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5999">
            <a:off x="5954554" y="2185131"/>
            <a:ext cx="2413135" cy="586463"/>
          </a:xfrm>
          <a:custGeom>
            <a:avLst/>
            <a:gdLst/>
            <a:ahLst/>
            <a:cxnLst/>
            <a:rect r="r" b="b" t="t" l="l"/>
            <a:pathLst>
              <a:path h="586463" w="2413135">
                <a:moveTo>
                  <a:pt x="0" y="4210"/>
                </a:moveTo>
                <a:lnTo>
                  <a:pt x="2412118" y="0"/>
                </a:lnTo>
                <a:lnTo>
                  <a:pt x="2413134" y="582254"/>
                </a:lnTo>
                <a:lnTo>
                  <a:pt x="1016" y="586464"/>
                </a:lnTo>
                <a:lnTo>
                  <a:pt x="0" y="421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88" t="451" r="20" b="-736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999">
            <a:off x="5954554" y="3054944"/>
            <a:ext cx="2413135" cy="586463"/>
          </a:xfrm>
          <a:custGeom>
            <a:avLst/>
            <a:gdLst/>
            <a:ahLst/>
            <a:cxnLst/>
            <a:rect r="r" b="b" t="t" l="l"/>
            <a:pathLst>
              <a:path h="586463" w="2413135">
                <a:moveTo>
                  <a:pt x="0" y="4209"/>
                </a:moveTo>
                <a:lnTo>
                  <a:pt x="2412118" y="0"/>
                </a:lnTo>
                <a:lnTo>
                  <a:pt x="2413134" y="582253"/>
                </a:lnTo>
                <a:lnTo>
                  <a:pt x="1016" y="586463"/>
                </a:lnTo>
                <a:lnTo>
                  <a:pt x="0" y="42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88" t="451" r="20" b="-736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137531" y="2962997"/>
            <a:ext cx="1593734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b="true" sz="1599" spc="3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run system module</a:t>
            </a:r>
          </a:p>
          <a:p>
            <a:pPr algn="ctr">
              <a:lnSpc>
                <a:spcPts val="223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054585" y="3885003"/>
            <a:ext cx="1811536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b="true" sz="1599" spc="3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System architecture</a:t>
            </a:r>
          </a:p>
          <a:p>
            <a:pPr algn="ctr">
              <a:lnSpc>
                <a:spcPts val="223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754291" y="2322470"/>
            <a:ext cx="2412122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 spc="3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Introduction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54291" y="4842230"/>
            <a:ext cx="2412122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 spc="3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Database schema diagram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01183" y="2219553"/>
            <a:ext cx="2410632" cy="549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8"/>
              </a:lnSpc>
              <a:spcBef>
                <a:spcPct val="0"/>
              </a:spcBef>
            </a:pPr>
            <a:r>
              <a:rPr lang="en-US" b="true" sz="1598" spc="3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Tools &amp; Technologies Used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51930" y="3018948"/>
            <a:ext cx="1818382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35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description of 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b="true" sz="1599" spc="3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3 portals features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203842" y="6064517"/>
            <a:ext cx="1633396" cy="1478966"/>
          </a:xfrm>
          <a:custGeom>
            <a:avLst/>
            <a:gdLst/>
            <a:ahLst/>
            <a:cxnLst/>
            <a:rect r="r" b="b" t="t" l="l"/>
            <a:pathLst>
              <a:path h="1478966" w="1633396">
                <a:moveTo>
                  <a:pt x="0" y="0"/>
                </a:moveTo>
                <a:lnTo>
                  <a:pt x="1633396" y="0"/>
                </a:lnTo>
                <a:lnTo>
                  <a:pt x="1633396" y="1478966"/>
                </a:lnTo>
                <a:lnTo>
                  <a:pt x="0" y="14789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5999">
            <a:off x="5954554" y="3944338"/>
            <a:ext cx="2413135" cy="586463"/>
          </a:xfrm>
          <a:custGeom>
            <a:avLst/>
            <a:gdLst/>
            <a:ahLst/>
            <a:cxnLst/>
            <a:rect r="r" b="b" t="t" l="l"/>
            <a:pathLst>
              <a:path h="586463" w="2413135">
                <a:moveTo>
                  <a:pt x="0" y="4210"/>
                </a:moveTo>
                <a:lnTo>
                  <a:pt x="2412118" y="0"/>
                </a:lnTo>
                <a:lnTo>
                  <a:pt x="2413134" y="582253"/>
                </a:lnTo>
                <a:lnTo>
                  <a:pt x="1016" y="586463"/>
                </a:lnTo>
                <a:lnTo>
                  <a:pt x="0" y="421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88" t="451" r="20" b="-736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955060" y="3942773"/>
            <a:ext cx="2410632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b="true" sz="1699" spc="3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Impact and Future Scope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8958676" y="6097127"/>
            <a:ext cx="1733324" cy="1377205"/>
          </a:xfrm>
          <a:custGeom>
            <a:avLst/>
            <a:gdLst/>
            <a:ahLst/>
            <a:cxnLst/>
            <a:rect r="r" b="b" t="t" l="l"/>
            <a:pathLst>
              <a:path h="1377205" w="1733324">
                <a:moveTo>
                  <a:pt x="0" y="0"/>
                </a:moveTo>
                <a:lnTo>
                  <a:pt x="1733324" y="0"/>
                </a:lnTo>
                <a:lnTo>
                  <a:pt x="1733324" y="1377205"/>
                </a:lnTo>
                <a:lnTo>
                  <a:pt x="0" y="13772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999">
            <a:off x="6029015" y="4878226"/>
            <a:ext cx="2413135" cy="586463"/>
          </a:xfrm>
          <a:custGeom>
            <a:avLst/>
            <a:gdLst/>
            <a:ahLst/>
            <a:cxnLst/>
            <a:rect r="r" b="b" t="t" l="l"/>
            <a:pathLst>
              <a:path h="586463" w="2413135">
                <a:moveTo>
                  <a:pt x="0" y="4210"/>
                </a:moveTo>
                <a:lnTo>
                  <a:pt x="2412119" y="0"/>
                </a:lnTo>
                <a:lnTo>
                  <a:pt x="2413135" y="582253"/>
                </a:lnTo>
                <a:lnTo>
                  <a:pt x="1017" y="586463"/>
                </a:lnTo>
                <a:lnTo>
                  <a:pt x="0" y="421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88" t="451" r="20" b="-736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6029522" y="4980343"/>
            <a:ext cx="2332329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 spc="3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5999">
            <a:off x="3954686" y="5803895"/>
            <a:ext cx="2413135" cy="586463"/>
          </a:xfrm>
          <a:custGeom>
            <a:avLst/>
            <a:gdLst/>
            <a:ahLst/>
            <a:cxnLst/>
            <a:rect r="r" b="b" t="t" l="l"/>
            <a:pathLst>
              <a:path h="586463" w="2413135">
                <a:moveTo>
                  <a:pt x="0" y="4210"/>
                </a:moveTo>
                <a:lnTo>
                  <a:pt x="2412118" y="0"/>
                </a:lnTo>
                <a:lnTo>
                  <a:pt x="2413134" y="582254"/>
                </a:lnTo>
                <a:lnTo>
                  <a:pt x="1016" y="586464"/>
                </a:lnTo>
                <a:lnTo>
                  <a:pt x="0" y="421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988" t="451" r="20" b="-736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955192" y="5916667"/>
            <a:ext cx="2332329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 spc="3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Software UI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1DAF8">
                <a:alpha val="100000"/>
              </a:srgbClr>
            </a:gs>
            <a:gs pos="100000">
              <a:srgbClr val="D4F0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3025" y="630482"/>
            <a:ext cx="9545950" cy="6723048"/>
            <a:chOff x="0" y="0"/>
            <a:chExt cx="5557619" cy="3914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57620" cy="3914134"/>
            </a:xfrm>
            <a:custGeom>
              <a:avLst/>
              <a:gdLst/>
              <a:ahLst/>
              <a:cxnLst/>
              <a:rect r="r" b="b" t="t" l="l"/>
              <a:pathLst>
                <a:path h="3914134" w="5557620">
                  <a:moveTo>
                    <a:pt x="53932" y="3346126"/>
                  </a:moveTo>
                  <a:cubicBezTo>
                    <a:pt x="53932" y="3346126"/>
                    <a:pt x="-9098" y="3099562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4669778" y="456"/>
                  </a:cubicBezTo>
                  <a:cubicBezTo>
                    <a:pt x="4886527" y="10310"/>
                    <a:pt x="5090842" y="29972"/>
                    <a:pt x="5225030" y="95181"/>
                  </a:cubicBezTo>
                  <a:cubicBezTo>
                    <a:pt x="5481076" y="219611"/>
                    <a:pt x="5562851" y="452651"/>
                    <a:pt x="5557363" y="698175"/>
                  </a:cubicBezTo>
                  <a:cubicBezTo>
                    <a:pt x="5557363" y="698175"/>
                    <a:pt x="5514075" y="1006564"/>
                    <a:pt x="5521509" y="1242098"/>
                  </a:cubicBezTo>
                  <a:cubicBezTo>
                    <a:pt x="5528632" y="3087928"/>
                    <a:pt x="5535789" y="3283531"/>
                    <a:pt x="5535789" y="3283531"/>
                  </a:cubicBezTo>
                  <a:cubicBezTo>
                    <a:pt x="5519107" y="3499263"/>
                    <a:pt x="5404463" y="3709875"/>
                    <a:pt x="5207594" y="3821499"/>
                  </a:cubicBezTo>
                  <a:cubicBezTo>
                    <a:pt x="5057242" y="3906748"/>
                    <a:pt x="4859212" y="3921845"/>
                    <a:pt x="3855973" y="3911104"/>
                  </a:cubicBezTo>
                  <a:cubicBezTo>
                    <a:pt x="636854" y="3905827"/>
                    <a:pt x="375506" y="3939680"/>
                    <a:pt x="245180" y="3830522"/>
                  </a:cubicBezTo>
                  <a:cubicBezTo>
                    <a:pt x="136669" y="3739637"/>
                    <a:pt x="72697" y="3546325"/>
                    <a:pt x="53932" y="33461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20984" y="-130467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7" y="0"/>
                </a:lnTo>
                <a:lnTo>
                  <a:pt x="1839837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54789" y="-351715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8" y="0"/>
                </a:lnTo>
                <a:lnTo>
                  <a:pt x="1839838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714791" y="2035704"/>
            <a:ext cx="3262417" cy="618610"/>
            <a:chOff x="0" y="0"/>
            <a:chExt cx="1308959" cy="2482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8959" cy="248201"/>
            </a:xfrm>
            <a:custGeom>
              <a:avLst/>
              <a:gdLst/>
              <a:ahLst/>
              <a:cxnLst/>
              <a:rect r="r" b="b" t="t" l="l"/>
              <a:pathLst>
                <a:path h="248201" w="1308959">
                  <a:moveTo>
                    <a:pt x="35596" y="0"/>
                  </a:moveTo>
                  <a:lnTo>
                    <a:pt x="1273363" y="0"/>
                  </a:lnTo>
                  <a:cubicBezTo>
                    <a:pt x="1282804" y="0"/>
                    <a:pt x="1291857" y="3750"/>
                    <a:pt x="1298533" y="10426"/>
                  </a:cubicBezTo>
                  <a:cubicBezTo>
                    <a:pt x="1305209" y="17101"/>
                    <a:pt x="1308959" y="26155"/>
                    <a:pt x="1308959" y="35596"/>
                  </a:cubicBezTo>
                  <a:lnTo>
                    <a:pt x="1308959" y="212605"/>
                  </a:lnTo>
                  <a:cubicBezTo>
                    <a:pt x="1308959" y="222046"/>
                    <a:pt x="1305209" y="231099"/>
                    <a:pt x="1298533" y="237775"/>
                  </a:cubicBezTo>
                  <a:cubicBezTo>
                    <a:pt x="1291857" y="244451"/>
                    <a:pt x="1282804" y="248201"/>
                    <a:pt x="1273363" y="248201"/>
                  </a:cubicBezTo>
                  <a:lnTo>
                    <a:pt x="35596" y="248201"/>
                  </a:lnTo>
                  <a:cubicBezTo>
                    <a:pt x="26155" y="248201"/>
                    <a:pt x="17101" y="244451"/>
                    <a:pt x="10426" y="237775"/>
                  </a:cubicBezTo>
                  <a:cubicBezTo>
                    <a:pt x="3750" y="231099"/>
                    <a:pt x="0" y="222046"/>
                    <a:pt x="0" y="212605"/>
                  </a:cubicBezTo>
                  <a:lnTo>
                    <a:pt x="0" y="35596"/>
                  </a:lnTo>
                  <a:cubicBezTo>
                    <a:pt x="0" y="26155"/>
                    <a:pt x="3750" y="17101"/>
                    <a:pt x="10426" y="10426"/>
                  </a:cubicBezTo>
                  <a:cubicBezTo>
                    <a:pt x="17101" y="3750"/>
                    <a:pt x="26155" y="0"/>
                    <a:pt x="355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08959" cy="2958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sz="2199" spc="48">
                  <a:solidFill>
                    <a:srgbClr val="0F1519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Introduction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27528" y="1106180"/>
            <a:ext cx="7436943" cy="672349"/>
            <a:chOff x="0" y="0"/>
            <a:chExt cx="2983877" cy="2697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83877" cy="269762"/>
            </a:xfrm>
            <a:custGeom>
              <a:avLst/>
              <a:gdLst/>
              <a:ahLst/>
              <a:cxnLst/>
              <a:rect r="r" b="b" t="t" l="l"/>
              <a:pathLst>
                <a:path h="269762" w="2983877">
                  <a:moveTo>
                    <a:pt x="15615" y="0"/>
                  </a:moveTo>
                  <a:lnTo>
                    <a:pt x="2968262" y="0"/>
                  </a:lnTo>
                  <a:cubicBezTo>
                    <a:pt x="2972404" y="0"/>
                    <a:pt x="2976375" y="1645"/>
                    <a:pt x="2979304" y="4574"/>
                  </a:cubicBezTo>
                  <a:cubicBezTo>
                    <a:pt x="2982232" y="7502"/>
                    <a:pt x="2983877" y="11474"/>
                    <a:pt x="2983877" y="15615"/>
                  </a:cubicBezTo>
                  <a:lnTo>
                    <a:pt x="2983877" y="254147"/>
                  </a:lnTo>
                  <a:cubicBezTo>
                    <a:pt x="2983877" y="258289"/>
                    <a:pt x="2982232" y="262260"/>
                    <a:pt x="2979304" y="265189"/>
                  </a:cubicBezTo>
                  <a:cubicBezTo>
                    <a:pt x="2976375" y="268117"/>
                    <a:pt x="2972404" y="269762"/>
                    <a:pt x="2968262" y="269762"/>
                  </a:cubicBezTo>
                  <a:lnTo>
                    <a:pt x="15615" y="269762"/>
                  </a:lnTo>
                  <a:cubicBezTo>
                    <a:pt x="11474" y="269762"/>
                    <a:pt x="7502" y="268117"/>
                    <a:pt x="4574" y="265189"/>
                  </a:cubicBezTo>
                  <a:cubicBezTo>
                    <a:pt x="1645" y="262260"/>
                    <a:pt x="0" y="258289"/>
                    <a:pt x="0" y="254147"/>
                  </a:cubicBezTo>
                  <a:lnTo>
                    <a:pt x="0" y="15615"/>
                  </a:lnTo>
                  <a:cubicBezTo>
                    <a:pt x="0" y="11474"/>
                    <a:pt x="1645" y="7502"/>
                    <a:pt x="4574" y="4574"/>
                  </a:cubicBezTo>
                  <a:cubicBezTo>
                    <a:pt x="7502" y="1645"/>
                    <a:pt x="11474" y="0"/>
                    <a:pt x="156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983877" cy="336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39"/>
                </a:lnSpc>
              </a:pPr>
              <a:r>
                <a:rPr lang="en-US" sz="3099" spc="68">
                  <a:solidFill>
                    <a:srgbClr val="0F1519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PROJECT IMHOTEP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563094" y="219794"/>
            <a:ext cx="1634214" cy="629915"/>
          </a:xfrm>
          <a:custGeom>
            <a:avLst/>
            <a:gdLst/>
            <a:ahLst/>
            <a:cxnLst/>
            <a:rect r="r" b="b" t="t" l="l"/>
            <a:pathLst>
              <a:path h="629915" w="1634214">
                <a:moveTo>
                  <a:pt x="0" y="0"/>
                </a:moveTo>
                <a:lnTo>
                  <a:pt x="1634215" y="0"/>
                </a:lnTo>
                <a:lnTo>
                  <a:pt x="1634215" y="629915"/>
                </a:lnTo>
                <a:lnTo>
                  <a:pt x="0" y="629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756000" y="2862755"/>
            <a:ext cx="9180000" cy="3135606"/>
            <a:chOff x="0" y="0"/>
            <a:chExt cx="3289905" cy="11237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89905" cy="1123731"/>
            </a:xfrm>
            <a:custGeom>
              <a:avLst/>
              <a:gdLst/>
              <a:ahLst/>
              <a:cxnLst/>
              <a:rect r="r" b="b" t="t" l="l"/>
              <a:pathLst>
                <a:path h="1123731" w="3289905">
                  <a:moveTo>
                    <a:pt x="31204" y="0"/>
                  </a:moveTo>
                  <a:lnTo>
                    <a:pt x="3258701" y="0"/>
                  </a:lnTo>
                  <a:cubicBezTo>
                    <a:pt x="3266977" y="0"/>
                    <a:pt x="3274913" y="3288"/>
                    <a:pt x="3280765" y="9139"/>
                  </a:cubicBezTo>
                  <a:cubicBezTo>
                    <a:pt x="3286617" y="14991"/>
                    <a:pt x="3289905" y="22928"/>
                    <a:pt x="3289905" y="31204"/>
                  </a:cubicBezTo>
                  <a:lnTo>
                    <a:pt x="3289905" y="1092527"/>
                  </a:lnTo>
                  <a:cubicBezTo>
                    <a:pt x="3289905" y="1100802"/>
                    <a:pt x="3286617" y="1108739"/>
                    <a:pt x="3280765" y="1114591"/>
                  </a:cubicBezTo>
                  <a:cubicBezTo>
                    <a:pt x="3274913" y="1120443"/>
                    <a:pt x="3266977" y="1123731"/>
                    <a:pt x="3258701" y="1123731"/>
                  </a:cubicBezTo>
                  <a:lnTo>
                    <a:pt x="31204" y="1123731"/>
                  </a:lnTo>
                  <a:cubicBezTo>
                    <a:pt x="22928" y="1123731"/>
                    <a:pt x="14991" y="1120443"/>
                    <a:pt x="9139" y="1114591"/>
                  </a:cubicBezTo>
                  <a:cubicBezTo>
                    <a:pt x="3288" y="1108739"/>
                    <a:pt x="0" y="1100802"/>
                    <a:pt x="0" y="1092527"/>
                  </a:cubicBezTo>
                  <a:lnTo>
                    <a:pt x="0" y="31204"/>
                  </a:lnTo>
                  <a:cubicBezTo>
                    <a:pt x="0" y="22928"/>
                    <a:pt x="3288" y="14991"/>
                    <a:pt x="9139" y="9139"/>
                  </a:cubicBezTo>
                  <a:cubicBezTo>
                    <a:pt x="14991" y="3288"/>
                    <a:pt x="22928" y="0"/>
                    <a:pt x="31204" y="0"/>
                  </a:cubicBezTo>
                  <a:close/>
                </a:path>
              </a:pathLst>
            </a:custGeom>
            <a:solidFill>
              <a:srgbClr val="A1DAF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289905" cy="1161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80111" y="6064517"/>
            <a:ext cx="1633396" cy="1478966"/>
          </a:xfrm>
          <a:custGeom>
            <a:avLst/>
            <a:gdLst/>
            <a:ahLst/>
            <a:cxnLst/>
            <a:rect r="r" b="b" t="t" l="l"/>
            <a:pathLst>
              <a:path h="1478966" w="1633396">
                <a:moveTo>
                  <a:pt x="0" y="0"/>
                </a:moveTo>
                <a:lnTo>
                  <a:pt x="1633396" y="0"/>
                </a:lnTo>
                <a:lnTo>
                  <a:pt x="1633396" y="1478966"/>
                </a:lnTo>
                <a:lnTo>
                  <a:pt x="0" y="14789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958676" y="6182795"/>
            <a:ext cx="1733324" cy="1377205"/>
          </a:xfrm>
          <a:custGeom>
            <a:avLst/>
            <a:gdLst/>
            <a:ahLst/>
            <a:cxnLst/>
            <a:rect r="r" b="b" t="t" l="l"/>
            <a:pathLst>
              <a:path h="1377205" w="1733324">
                <a:moveTo>
                  <a:pt x="0" y="0"/>
                </a:moveTo>
                <a:lnTo>
                  <a:pt x="1733324" y="0"/>
                </a:lnTo>
                <a:lnTo>
                  <a:pt x="1733324" y="1377205"/>
                </a:lnTo>
                <a:lnTo>
                  <a:pt x="0" y="13772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99392" y="415943"/>
            <a:ext cx="2153356" cy="2796976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020964" y="431900"/>
            <a:ext cx="2461776" cy="2653122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756000" y="3244864"/>
            <a:ext cx="8868226" cy="249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6"/>
              </a:lnSpc>
              <a:spcBef>
                <a:spcPct val="0"/>
              </a:spcBef>
            </a:pPr>
            <a:r>
              <a:rPr lang="en-US" b="true" sz="1775" spc="3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“The greatest wealth is health.”</a:t>
            </a:r>
          </a:p>
          <a:p>
            <a:pPr algn="ctr">
              <a:lnSpc>
                <a:spcPts val="2486"/>
              </a:lnSpc>
              <a:spcBef>
                <a:spcPct val="0"/>
              </a:spcBef>
            </a:pPr>
            <a:r>
              <a:rPr lang="en-US" b="true" sz="1775" spc="3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Imhotep is a smart healthcare system that connects doctors, patients, and pharmacists in one platform.</a:t>
            </a:r>
          </a:p>
          <a:p>
            <a:pPr algn="ctr">
              <a:lnSpc>
                <a:spcPts val="2486"/>
              </a:lnSpc>
              <a:spcBef>
                <a:spcPct val="0"/>
              </a:spcBef>
            </a:pPr>
            <a:r>
              <a:rPr lang="en-US" b="true" sz="1775" spc="3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It helps manage records, prescriptions, and communication digitally — making healthcare faster and more organized.</a:t>
            </a:r>
          </a:p>
          <a:p>
            <a:pPr algn="ctr">
              <a:lnSpc>
                <a:spcPts val="2486"/>
              </a:lnSpc>
              <a:spcBef>
                <a:spcPct val="0"/>
              </a:spcBef>
            </a:pPr>
            <a:r>
              <a:rPr lang="en-US" b="true" sz="1775" spc="3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The system is built with Python (PyQt5) and MySQL for secure data handling.</a:t>
            </a:r>
          </a:p>
          <a:p>
            <a:pPr algn="ctr">
              <a:lnSpc>
                <a:spcPts val="2486"/>
              </a:lnSpc>
              <a:spcBef>
                <a:spcPct val="0"/>
              </a:spcBef>
            </a:pPr>
            <a:r>
              <a:rPr lang="en-US" b="true" sz="1775" spc="3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 short, Imhotep aims to make healthcare smarter, simpler, and more connected.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1DAF8">
                <a:alpha val="100000"/>
              </a:srgbClr>
            </a:gs>
            <a:gs pos="100000">
              <a:srgbClr val="D4F0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7226" y="534752"/>
            <a:ext cx="9545950" cy="6723048"/>
            <a:chOff x="0" y="0"/>
            <a:chExt cx="5557619" cy="3914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57620" cy="3914134"/>
            </a:xfrm>
            <a:custGeom>
              <a:avLst/>
              <a:gdLst/>
              <a:ahLst/>
              <a:cxnLst/>
              <a:rect r="r" b="b" t="t" l="l"/>
              <a:pathLst>
                <a:path h="3914134" w="5557620">
                  <a:moveTo>
                    <a:pt x="53932" y="3346126"/>
                  </a:moveTo>
                  <a:cubicBezTo>
                    <a:pt x="53932" y="3346126"/>
                    <a:pt x="-9098" y="3099562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4669778" y="456"/>
                  </a:cubicBezTo>
                  <a:cubicBezTo>
                    <a:pt x="4886527" y="10310"/>
                    <a:pt x="5090842" y="29972"/>
                    <a:pt x="5225030" y="95181"/>
                  </a:cubicBezTo>
                  <a:cubicBezTo>
                    <a:pt x="5481076" y="219611"/>
                    <a:pt x="5562851" y="452651"/>
                    <a:pt x="5557363" y="698175"/>
                  </a:cubicBezTo>
                  <a:cubicBezTo>
                    <a:pt x="5557363" y="698175"/>
                    <a:pt x="5514075" y="1006564"/>
                    <a:pt x="5521509" y="1242098"/>
                  </a:cubicBezTo>
                  <a:cubicBezTo>
                    <a:pt x="5528632" y="3087928"/>
                    <a:pt x="5535789" y="3283531"/>
                    <a:pt x="5535789" y="3283531"/>
                  </a:cubicBezTo>
                  <a:cubicBezTo>
                    <a:pt x="5519107" y="3499263"/>
                    <a:pt x="5404463" y="3709875"/>
                    <a:pt x="5207594" y="3821499"/>
                  </a:cubicBezTo>
                  <a:cubicBezTo>
                    <a:pt x="5057242" y="3906748"/>
                    <a:pt x="4859212" y="3921845"/>
                    <a:pt x="3855973" y="3911104"/>
                  </a:cubicBezTo>
                  <a:cubicBezTo>
                    <a:pt x="636854" y="3905827"/>
                    <a:pt x="375506" y="3939680"/>
                    <a:pt x="245180" y="3830522"/>
                  </a:cubicBezTo>
                  <a:cubicBezTo>
                    <a:pt x="136669" y="3739637"/>
                    <a:pt x="72697" y="3546325"/>
                    <a:pt x="53932" y="33461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20984" y="-130467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7" y="0"/>
                </a:lnTo>
                <a:lnTo>
                  <a:pt x="1839837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54789" y="-351715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8" y="0"/>
                </a:lnTo>
                <a:lnTo>
                  <a:pt x="1839838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825516" y="1085044"/>
            <a:ext cx="7310198" cy="672349"/>
            <a:chOff x="0" y="0"/>
            <a:chExt cx="2933024" cy="2697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33024" cy="269762"/>
            </a:xfrm>
            <a:custGeom>
              <a:avLst/>
              <a:gdLst/>
              <a:ahLst/>
              <a:cxnLst/>
              <a:rect r="r" b="b" t="t" l="l"/>
              <a:pathLst>
                <a:path h="269762" w="2933024">
                  <a:moveTo>
                    <a:pt x="15886" y="0"/>
                  </a:moveTo>
                  <a:lnTo>
                    <a:pt x="2917138" y="0"/>
                  </a:lnTo>
                  <a:cubicBezTo>
                    <a:pt x="2925912" y="0"/>
                    <a:pt x="2933024" y="7112"/>
                    <a:pt x="2933024" y="15886"/>
                  </a:cubicBezTo>
                  <a:lnTo>
                    <a:pt x="2933024" y="253876"/>
                  </a:lnTo>
                  <a:cubicBezTo>
                    <a:pt x="2933024" y="262650"/>
                    <a:pt x="2925912" y="269762"/>
                    <a:pt x="2917138" y="269762"/>
                  </a:cubicBezTo>
                  <a:lnTo>
                    <a:pt x="15886" y="269762"/>
                  </a:lnTo>
                  <a:cubicBezTo>
                    <a:pt x="11673" y="269762"/>
                    <a:pt x="7632" y="268089"/>
                    <a:pt x="4653" y="265109"/>
                  </a:cubicBezTo>
                  <a:cubicBezTo>
                    <a:pt x="1674" y="262130"/>
                    <a:pt x="0" y="258090"/>
                    <a:pt x="0" y="253876"/>
                  </a:cubicBezTo>
                  <a:lnTo>
                    <a:pt x="0" y="15886"/>
                  </a:lnTo>
                  <a:cubicBezTo>
                    <a:pt x="0" y="7112"/>
                    <a:pt x="7112" y="0"/>
                    <a:pt x="158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933024" cy="336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39"/>
                </a:lnSpc>
              </a:pPr>
              <a:r>
                <a:rPr lang="en-US" sz="3099" spc="68">
                  <a:solidFill>
                    <a:srgbClr val="0F1519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PROJECT IMHOTEP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563094" y="219794"/>
            <a:ext cx="1634214" cy="629915"/>
          </a:xfrm>
          <a:custGeom>
            <a:avLst/>
            <a:gdLst/>
            <a:ahLst/>
            <a:cxnLst/>
            <a:rect r="r" b="b" t="t" l="l"/>
            <a:pathLst>
              <a:path h="629915" w="1634214">
                <a:moveTo>
                  <a:pt x="0" y="0"/>
                </a:moveTo>
                <a:lnTo>
                  <a:pt x="1634215" y="0"/>
                </a:lnTo>
                <a:lnTo>
                  <a:pt x="1634215" y="629915"/>
                </a:lnTo>
                <a:lnTo>
                  <a:pt x="0" y="629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90654" y="1967873"/>
            <a:ext cx="3072440" cy="643834"/>
            <a:chOff x="0" y="0"/>
            <a:chExt cx="1232736" cy="258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2736" cy="258321"/>
            </a:xfrm>
            <a:custGeom>
              <a:avLst/>
              <a:gdLst/>
              <a:ahLst/>
              <a:cxnLst/>
              <a:rect r="r" b="b" t="t" l="l"/>
              <a:pathLst>
                <a:path h="258321" w="1232736">
                  <a:moveTo>
                    <a:pt x="37797" y="0"/>
                  </a:moveTo>
                  <a:lnTo>
                    <a:pt x="1194939" y="0"/>
                  </a:lnTo>
                  <a:cubicBezTo>
                    <a:pt x="1215813" y="0"/>
                    <a:pt x="1232736" y="16922"/>
                    <a:pt x="1232736" y="37797"/>
                  </a:cubicBezTo>
                  <a:lnTo>
                    <a:pt x="1232736" y="220524"/>
                  </a:lnTo>
                  <a:cubicBezTo>
                    <a:pt x="1232736" y="241399"/>
                    <a:pt x="1215813" y="258321"/>
                    <a:pt x="1194939" y="258321"/>
                  </a:cubicBezTo>
                  <a:lnTo>
                    <a:pt x="37797" y="258321"/>
                  </a:lnTo>
                  <a:cubicBezTo>
                    <a:pt x="16922" y="258321"/>
                    <a:pt x="0" y="241399"/>
                    <a:pt x="0" y="220524"/>
                  </a:cubicBezTo>
                  <a:lnTo>
                    <a:pt x="0" y="37797"/>
                  </a:lnTo>
                  <a:cubicBezTo>
                    <a:pt x="0" y="16922"/>
                    <a:pt x="16922" y="0"/>
                    <a:pt x="37797" y="0"/>
                  </a:cubicBezTo>
                  <a:close/>
                </a:path>
              </a:pathLst>
            </a:custGeom>
            <a:solidFill>
              <a:srgbClr val="9DD6FF"/>
            </a:solidFill>
            <a:ln w="9525" cap="sq">
              <a:gradFill>
                <a:gsLst>
                  <a:gs pos="0">
                    <a:srgbClr val="A1DAF8">
                      <a:alpha val="100000"/>
                    </a:srgbClr>
                  </a:gs>
                  <a:gs pos="100000">
                    <a:srgbClr val="D4F0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32736" cy="305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sz="2199" spc="48">
                  <a:solidFill>
                    <a:srgbClr val="0F1519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RUN SYSTEM MODUL</a:t>
              </a:r>
              <a:r>
                <a:rPr lang="en-US" sz="2199" spc="48">
                  <a:solidFill>
                    <a:srgbClr val="A1DAF8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E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98935" y="6064517"/>
            <a:ext cx="1633396" cy="1478966"/>
          </a:xfrm>
          <a:custGeom>
            <a:avLst/>
            <a:gdLst/>
            <a:ahLst/>
            <a:cxnLst/>
            <a:rect r="r" b="b" t="t" l="l"/>
            <a:pathLst>
              <a:path h="1478966" w="1633396">
                <a:moveTo>
                  <a:pt x="0" y="0"/>
                </a:moveTo>
                <a:lnTo>
                  <a:pt x="1633396" y="0"/>
                </a:lnTo>
                <a:lnTo>
                  <a:pt x="1633396" y="1478966"/>
                </a:lnTo>
                <a:lnTo>
                  <a:pt x="0" y="14789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958676" y="6166278"/>
            <a:ext cx="1733324" cy="1377205"/>
          </a:xfrm>
          <a:custGeom>
            <a:avLst/>
            <a:gdLst/>
            <a:ahLst/>
            <a:cxnLst/>
            <a:rect r="r" b="b" t="t" l="l"/>
            <a:pathLst>
              <a:path h="1377205" w="1733324">
                <a:moveTo>
                  <a:pt x="0" y="0"/>
                </a:moveTo>
                <a:lnTo>
                  <a:pt x="1733324" y="0"/>
                </a:lnTo>
                <a:lnTo>
                  <a:pt x="1733324" y="1377205"/>
                </a:lnTo>
                <a:lnTo>
                  <a:pt x="0" y="13772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354754" y="2724388"/>
            <a:ext cx="3344241" cy="2960785"/>
            <a:chOff x="0" y="0"/>
            <a:chExt cx="1198500" cy="10610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98500" cy="1061078"/>
            </a:xfrm>
            <a:custGeom>
              <a:avLst/>
              <a:gdLst/>
              <a:ahLst/>
              <a:cxnLst/>
              <a:rect r="r" b="b" t="t" l="l"/>
              <a:pathLst>
                <a:path h="1061078" w="1198500">
                  <a:moveTo>
                    <a:pt x="85655" y="0"/>
                  </a:moveTo>
                  <a:lnTo>
                    <a:pt x="1112845" y="0"/>
                  </a:lnTo>
                  <a:cubicBezTo>
                    <a:pt x="1135562" y="0"/>
                    <a:pt x="1157349" y="9024"/>
                    <a:pt x="1173413" y="25088"/>
                  </a:cubicBezTo>
                  <a:cubicBezTo>
                    <a:pt x="1189476" y="41151"/>
                    <a:pt x="1198500" y="62938"/>
                    <a:pt x="1198500" y="85655"/>
                  </a:cubicBezTo>
                  <a:lnTo>
                    <a:pt x="1198500" y="975423"/>
                  </a:lnTo>
                  <a:cubicBezTo>
                    <a:pt x="1198500" y="1022729"/>
                    <a:pt x="1160151" y="1061078"/>
                    <a:pt x="1112845" y="1061078"/>
                  </a:cubicBezTo>
                  <a:lnTo>
                    <a:pt x="85655" y="1061078"/>
                  </a:lnTo>
                  <a:cubicBezTo>
                    <a:pt x="62938" y="1061078"/>
                    <a:pt x="41151" y="1052054"/>
                    <a:pt x="25088" y="1035991"/>
                  </a:cubicBezTo>
                  <a:cubicBezTo>
                    <a:pt x="9024" y="1019927"/>
                    <a:pt x="0" y="998141"/>
                    <a:pt x="0" y="975423"/>
                  </a:cubicBezTo>
                  <a:lnTo>
                    <a:pt x="0" y="85655"/>
                  </a:lnTo>
                  <a:cubicBezTo>
                    <a:pt x="0" y="38349"/>
                    <a:pt x="38349" y="0"/>
                    <a:pt x="856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198500" cy="1089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80"/>
                </a:lnSpc>
              </a:pPr>
              <a:r>
                <a:rPr lang="en-US" sz="1700" spc="37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The system includes three portals — Doctor, Patient, and Pharmacist each linked through a central MySQL database and accessed via a PyQt5 interface.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254114" y="1967873"/>
            <a:ext cx="3100675" cy="643834"/>
            <a:chOff x="0" y="0"/>
            <a:chExt cx="1244064" cy="25832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44064" cy="258321"/>
            </a:xfrm>
            <a:custGeom>
              <a:avLst/>
              <a:gdLst/>
              <a:ahLst/>
              <a:cxnLst/>
              <a:rect r="r" b="b" t="t" l="l"/>
              <a:pathLst>
                <a:path h="258321" w="1244064">
                  <a:moveTo>
                    <a:pt x="37453" y="0"/>
                  </a:moveTo>
                  <a:lnTo>
                    <a:pt x="1206611" y="0"/>
                  </a:lnTo>
                  <a:cubicBezTo>
                    <a:pt x="1227296" y="0"/>
                    <a:pt x="1244064" y="16768"/>
                    <a:pt x="1244064" y="37453"/>
                  </a:cubicBezTo>
                  <a:lnTo>
                    <a:pt x="1244064" y="220869"/>
                  </a:lnTo>
                  <a:cubicBezTo>
                    <a:pt x="1244064" y="241553"/>
                    <a:pt x="1227296" y="258321"/>
                    <a:pt x="1206611" y="258321"/>
                  </a:cubicBezTo>
                  <a:lnTo>
                    <a:pt x="37453" y="258321"/>
                  </a:lnTo>
                  <a:cubicBezTo>
                    <a:pt x="16768" y="258321"/>
                    <a:pt x="0" y="241553"/>
                    <a:pt x="0" y="220869"/>
                  </a:cubicBezTo>
                  <a:lnTo>
                    <a:pt x="0" y="37453"/>
                  </a:lnTo>
                  <a:cubicBezTo>
                    <a:pt x="0" y="16768"/>
                    <a:pt x="16768" y="0"/>
                    <a:pt x="37453" y="0"/>
                  </a:cubicBezTo>
                  <a:close/>
                </a:path>
              </a:pathLst>
            </a:custGeom>
            <a:solidFill>
              <a:srgbClr val="9DD6FF"/>
            </a:solidFill>
            <a:ln w="9525" cap="sq">
              <a:gradFill>
                <a:gsLst>
                  <a:gs pos="0">
                    <a:srgbClr val="A1DAF8">
                      <a:alpha val="100000"/>
                    </a:srgbClr>
                  </a:gs>
                  <a:gs pos="100000">
                    <a:srgbClr val="D4F0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244064" cy="305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197309" y="2897633"/>
            <a:ext cx="3344241" cy="2960785"/>
            <a:chOff x="0" y="0"/>
            <a:chExt cx="1198500" cy="10610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98500" cy="1061078"/>
            </a:xfrm>
            <a:custGeom>
              <a:avLst/>
              <a:gdLst/>
              <a:ahLst/>
              <a:cxnLst/>
              <a:rect r="r" b="b" t="t" l="l"/>
              <a:pathLst>
                <a:path h="1061078" w="1198500">
                  <a:moveTo>
                    <a:pt x="85655" y="0"/>
                  </a:moveTo>
                  <a:lnTo>
                    <a:pt x="1112845" y="0"/>
                  </a:lnTo>
                  <a:cubicBezTo>
                    <a:pt x="1135562" y="0"/>
                    <a:pt x="1157349" y="9024"/>
                    <a:pt x="1173413" y="25088"/>
                  </a:cubicBezTo>
                  <a:cubicBezTo>
                    <a:pt x="1189476" y="41151"/>
                    <a:pt x="1198500" y="62938"/>
                    <a:pt x="1198500" y="85655"/>
                  </a:cubicBezTo>
                  <a:lnTo>
                    <a:pt x="1198500" y="975423"/>
                  </a:lnTo>
                  <a:cubicBezTo>
                    <a:pt x="1198500" y="1022729"/>
                    <a:pt x="1160151" y="1061078"/>
                    <a:pt x="1112845" y="1061078"/>
                  </a:cubicBezTo>
                  <a:lnTo>
                    <a:pt x="85655" y="1061078"/>
                  </a:lnTo>
                  <a:cubicBezTo>
                    <a:pt x="62938" y="1061078"/>
                    <a:pt x="41151" y="1052054"/>
                    <a:pt x="25088" y="1035991"/>
                  </a:cubicBezTo>
                  <a:cubicBezTo>
                    <a:pt x="9024" y="1019927"/>
                    <a:pt x="0" y="998141"/>
                    <a:pt x="0" y="975423"/>
                  </a:cubicBezTo>
                  <a:lnTo>
                    <a:pt x="0" y="85655"/>
                  </a:lnTo>
                  <a:cubicBezTo>
                    <a:pt x="0" y="38349"/>
                    <a:pt x="38349" y="0"/>
                    <a:pt x="856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198500" cy="1089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80"/>
                </a:lnSpc>
              </a:pPr>
            </a:p>
          </p:txBody>
        </p:sp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123545" y="5047110"/>
            <a:ext cx="2462178" cy="2449619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6337390" y="2020062"/>
            <a:ext cx="2934124" cy="382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spc="48">
                <a:solidFill>
                  <a:srgbClr val="000000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System architecture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32331" y="3042303"/>
            <a:ext cx="3344241" cy="2642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b="true" sz="1699" spc="3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System Architecture:</a:t>
            </a:r>
          </a:p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b="true" sz="1699" spc="3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The architecture follows a client–server model:</a:t>
            </a:r>
          </a:p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b="true" sz="1699" spc="3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Frontend (PyQt5) → Backend Logic (Python) → Database (MySQL).</a:t>
            </a:r>
          </a:p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b="true" sz="1699" spc="3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All modules communicate securely through database connectivity.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1DAF8">
                <a:alpha val="100000"/>
              </a:srgbClr>
            </a:gs>
            <a:gs pos="100000">
              <a:srgbClr val="D4F0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7226" y="534752"/>
            <a:ext cx="9545950" cy="6723048"/>
            <a:chOff x="0" y="0"/>
            <a:chExt cx="5557619" cy="3914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57620" cy="3914134"/>
            </a:xfrm>
            <a:custGeom>
              <a:avLst/>
              <a:gdLst/>
              <a:ahLst/>
              <a:cxnLst/>
              <a:rect r="r" b="b" t="t" l="l"/>
              <a:pathLst>
                <a:path h="3914134" w="5557620">
                  <a:moveTo>
                    <a:pt x="53932" y="3346126"/>
                  </a:moveTo>
                  <a:cubicBezTo>
                    <a:pt x="53932" y="3346126"/>
                    <a:pt x="-9098" y="3099562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4669778" y="456"/>
                  </a:cubicBezTo>
                  <a:cubicBezTo>
                    <a:pt x="4886527" y="10310"/>
                    <a:pt x="5090842" y="29972"/>
                    <a:pt x="5225030" y="95181"/>
                  </a:cubicBezTo>
                  <a:cubicBezTo>
                    <a:pt x="5481076" y="219611"/>
                    <a:pt x="5562851" y="452651"/>
                    <a:pt x="5557363" y="698175"/>
                  </a:cubicBezTo>
                  <a:cubicBezTo>
                    <a:pt x="5557363" y="698175"/>
                    <a:pt x="5514075" y="1006564"/>
                    <a:pt x="5521509" y="1242098"/>
                  </a:cubicBezTo>
                  <a:cubicBezTo>
                    <a:pt x="5528632" y="3087928"/>
                    <a:pt x="5535789" y="3283531"/>
                    <a:pt x="5535789" y="3283531"/>
                  </a:cubicBezTo>
                  <a:cubicBezTo>
                    <a:pt x="5519107" y="3499263"/>
                    <a:pt x="5404463" y="3709875"/>
                    <a:pt x="5207594" y="3821499"/>
                  </a:cubicBezTo>
                  <a:cubicBezTo>
                    <a:pt x="5057242" y="3906748"/>
                    <a:pt x="4859212" y="3921845"/>
                    <a:pt x="3855973" y="3911104"/>
                  </a:cubicBezTo>
                  <a:cubicBezTo>
                    <a:pt x="636854" y="3905827"/>
                    <a:pt x="375506" y="3939680"/>
                    <a:pt x="245180" y="3830522"/>
                  </a:cubicBezTo>
                  <a:cubicBezTo>
                    <a:pt x="136669" y="3739637"/>
                    <a:pt x="72697" y="3546325"/>
                    <a:pt x="53932" y="33461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20984" y="-130467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7" y="0"/>
                </a:lnTo>
                <a:lnTo>
                  <a:pt x="1839837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54789" y="-351715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8" y="0"/>
                </a:lnTo>
                <a:lnTo>
                  <a:pt x="1839838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825516" y="1085044"/>
            <a:ext cx="7310198" cy="672349"/>
            <a:chOff x="0" y="0"/>
            <a:chExt cx="2933024" cy="2697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33024" cy="269762"/>
            </a:xfrm>
            <a:custGeom>
              <a:avLst/>
              <a:gdLst/>
              <a:ahLst/>
              <a:cxnLst/>
              <a:rect r="r" b="b" t="t" l="l"/>
              <a:pathLst>
                <a:path h="269762" w="2933024">
                  <a:moveTo>
                    <a:pt x="15886" y="0"/>
                  </a:moveTo>
                  <a:lnTo>
                    <a:pt x="2917138" y="0"/>
                  </a:lnTo>
                  <a:cubicBezTo>
                    <a:pt x="2925912" y="0"/>
                    <a:pt x="2933024" y="7112"/>
                    <a:pt x="2933024" y="15886"/>
                  </a:cubicBezTo>
                  <a:lnTo>
                    <a:pt x="2933024" y="253876"/>
                  </a:lnTo>
                  <a:cubicBezTo>
                    <a:pt x="2933024" y="262650"/>
                    <a:pt x="2925912" y="269762"/>
                    <a:pt x="2917138" y="269762"/>
                  </a:cubicBezTo>
                  <a:lnTo>
                    <a:pt x="15886" y="269762"/>
                  </a:lnTo>
                  <a:cubicBezTo>
                    <a:pt x="11673" y="269762"/>
                    <a:pt x="7632" y="268089"/>
                    <a:pt x="4653" y="265109"/>
                  </a:cubicBezTo>
                  <a:cubicBezTo>
                    <a:pt x="1674" y="262130"/>
                    <a:pt x="0" y="258090"/>
                    <a:pt x="0" y="253876"/>
                  </a:cubicBezTo>
                  <a:lnTo>
                    <a:pt x="0" y="15886"/>
                  </a:lnTo>
                  <a:cubicBezTo>
                    <a:pt x="0" y="7112"/>
                    <a:pt x="7112" y="0"/>
                    <a:pt x="158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933024" cy="336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39"/>
                </a:lnSpc>
              </a:pPr>
              <a:r>
                <a:rPr lang="en-US" sz="3099" spc="68">
                  <a:solidFill>
                    <a:srgbClr val="0F1519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PROJECT IMHOTEP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563094" y="219794"/>
            <a:ext cx="1634214" cy="629915"/>
          </a:xfrm>
          <a:custGeom>
            <a:avLst/>
            <a:gdLst/>
            <a:ahLst/>
            <a:cxnLst/>
            <a:rect r="r" b="b" t="t" l="l"/>
            <a:pathLst>
              <a:path h="629915" w="1634214">
                <a:moveTo>
                  <a:pt x="0" y="0"/>
                </a:moveTo>
                <a:lnTo>
                  <a:pt x="1634215" y="0"/>
                </a:lnTo>
                <a:lnTo>
                  <a:pt x="1634215" y="629915"/>
                </a:lnTo>
                <a:lnTo>
                  <a:pt x="0" y="629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301612" y="1789665"/>
            <a:ext cx="2146312" cy="643834"/>
            <a:chOff x="0" y="0"/>
            <a:chExt cx="861151" cy="258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1151" cy="258321"/>
            </a:xfrm>
            <a:custGeom>
              <a:avLst/>
              <a:gdLst/>
              <a:ahLst/>
              <a:cxnLst/>
              <a:rect r="r" b="b" t="t" l="l"/>
              <a:pathLst>
                <a:path h="258321" w="861151">
                  <a:moveTo>
                    <a:pt x="54106" y="0"/>
                  </a:moveTo>
                  <a:lnTo>
                    <a:pt x="807045" y="0"/>
                  </a:lnTo>
                  <a:cubicBezTo>
                    <a:pt x="836927" y="0"/>
                    <a:pt x="861151" y="24224"/>
                    <a:pt x="861151" y="54106"/>
                  </a:cubicBezTo>
                  <a:lnTo>
                    <a:pt x="861151" y="204215"/>
                  </a:lnTo>
                  <a:cubicBezTo>
                    <a:pt x="861151" y="234097"/>
                    <a:pt x="836927" y="258321"/>
                    <a:pt x="807045" y="258321"/>
                  </a:cubicBezTo>
                  <a:lnTo>
                    <a:pt x="54106" y="258321"/>
                  </a:lnTo>
                  <a:cubicBezTo>
                    <a:pt x="24224" y="258321"/>
                    <a:pt x="0" y="234097"/>
                    <a:pt x="0" y="204215"/>
                  </a:cubicBezTo>
                  <a:lnTo>
                    <a:pt x="0" y="54106"/>
                  </a:lnTo>
                  <a:cubicBezTo>
                    <a:pt x="0" y="24224"/>
                    <a:pt x="24224" y="0"/>
                    <a:pt x="54106" y="0"/>
                  </a:cubicBezTo>
                  <a:close/>
                </a:path>
              </a:pathLst>
            </a:custGeom>
            <a:solidFill>
              <a:srgbClr val="9DD6FF"/>
            </a:solidFill>
            <a:ln w="9525" cap="sq">
              <a:gradFill>
                <a:gsLst>
                  <a:gs pos="0">
                    <a:srgbClr val="A1DAF8">
                      <a:alpha val="100000"/>
                    </a:srgbClr>
                  </a:gs>
                  <a:gs pos="100000">
                    <a:srgbClr val="D4F0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61151" cy="305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sz="2199" spc="48">
                  <a:solidFill>
                    <a:srgbClr val="000000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SOFTWARE UI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312918" y="2583056"/>
            <a:ext cx="4067284" cy="3900223"/>
          </a:xfrm>
          <a:custGeom>
            <a:avLst/>
            <a:gdLst/>
            <a:ahLst/>
            <a:cxnLst/>
            <a:rect r="r" b="b" t="t" l="l"/>
            <a:pathLst>
              <a:path h="3900223" w="4067284">
                <a:moveTo>
                  <a:pt x="0" y="0"/>
                </a:moveTo>
                <a:lnTo>
                  <a:pt x="4067283" y="0"/>
                </a:lnTo>
                <a:lnTo>
                  <a:pt x="4067283" y="3900223"/>
                </a:lnTo>
                <a:lnTo>
                  <a:pt x="0" y="39002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98935" y="6064517"/>
            <a:ext cx="1633396" cy="1478966"/>
          </a:xfrm>
          <a:custGeom>
            <a:avLst/>
            <a:gdLst/>
            <a:ahLst/>
            <a:cxnLst/>
            <a:rect r="r" b="b" t="t" l="l"/>
            <a:pathLst>
              <a:path h="1478966" w="1633396">
                <a:moveTo>
                  <a:pt x="0" y="0"/>
                </a:moveTo>
                <a:lnTo>
                  <a:pt x="1633396" y="0"/>
                </a:lnTo>
                <a:lnTo>
                  <a:pt x="1633396" y="1478966"/>
                </a:lnTo>
                <a:lnTo>
                  <a:pt x="0" y="14789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480615" y="2921100"/>
            <a:ext cx="4525363" cy="3562179"/>
          </a:xfrm>
          <a:custGeom>
            <a:avLst/>
            <a:gdLst/>
            <a:ahLst/>
            <a:cxnLst/>
            <a:rect r="r" b="b" t="t" l="l"/>
            <a:pathLst>
              <a:path h="3562179" w="4525363">
                <a:moveTo>
                  <a:pt x="0" y="0"/>
                </a:moveTo>
                <a:lnTo>
                  <a:pt x="4525363" y="0"/>
                </a:lnTo>
                <a:lnTo>
                  <a:pt x="4525363" y="3562179"/>
                </a:lnTo>
                <a:lnTo>
                  <a:pt x="0" y="35621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18" t="0" r="-11332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958676" y="6166278"/>
            <a:ext cx="1733324" cy="1377205"/>
          </a:xfrm>
          <a:custGeom>
            <a:avLst/>
            <a:gdLst/>
            <a:ahLst/>
            <a:cxnLst/>
            <a:rect r="r" b="b" t="t" l="l"/>
            <a:pathLst>
              <a:path h="1377205" w="1733324">
                <a:moveTo>
                  <a:pt x="0" y="0"/>
                </a:moveTo>
                <a:lnTo>
                  <a:pt x="1733324" y="0"/>
                </a:lnTo>
                <a:lnTo>
                  <a:pt x="1733324" y="1377205"/>
                </a:lnTo>
                <a:lnTo>
                  <a:pt x="0" y="13772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834457" y="6532964"/>
            <a:ext cx="3023087" cy="643834"/>
            <a:chOff x="0" y="0"/>
            <a:chExt cx="1212934" cy="2583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2934" cy="258321"/>
            </a:xfrm>
            <a:custGeom>
              <a:avLst/>
              <a:gdLst/>
              <a:ahLst/>
              <a:cxnLst/>
              <a:rect r="r" b="b" t="t" l="l"/>
              <a:pathLst>
                <a:path h="258321" w="1212934">
                  <a:moveTo>
                    <a:pt x="38414" y="0"/>
                  </a:moveTo>
                  <a:lnTo>
                    <a:pt x="1174520" y="0"/>
                  </a:lnTo>
                  <a:cubicBezTo>
                    <a:pt x="1184708" y="0"/>
                    <a:pt x="1194479" y="4047"/>
                    <a:pt x="1201683" y="11251"/>
                  </a:cubicBezTo>
                  <a:cubicBezTo>
                    <a:pt x="1208887" y="18455"/>
                    <a:pt x="1212934" y="28226"/>
                    <a:pt x="1212934" y="38414"/>
                  </a:cubicBezTo>
                  <a:lnTo>
                    <a:pt x="1212934" y="219907"/>
                  </a:lnTo>
                  <a:cubicBezTo>
                    <a:pt x="1212934" y="241123"/>
                    <a:pt x="1195735" y="258321"/>
                    <a:pt x="1174520" y="258321"/>
                  </a:cubicBezTo>
                  <a:lnTo>
                    <a:pt x="38414" y="258321"/>
                  </a:lnTo>
                  <a:cubicBezTo>
                    <a:pt x="17199" y="258321"/>
                    <a:pt x="0" y="241123"/>
                    <a:pt x="0" y="219907"/>
                  </a:cubicBezTo>
                  <a:lnTo>
                    <a:pt x="0" y="38414"/>
                  </a:lnTo>
                  <a:cubicBezTo>
                    <a:pt x="0" y="17199"/>
                    <a:pt x="17199" y="0"/>
                    <a:pt x="38414" y="0"/>
                  </a:cubicBezTo>
                  <a:close/>
                </a:path>
              </a:pathLst>
            </a:custGeom>
            <a:solidFill>
              <a:srgbClr val="9DD6FF"/>
            </a:solidFill>
            <a:ln w="9525" cap="sq">
              <a:gradFill>
                <a:gsLst>
                  <a:gs pos="0">
                    <a:srgbClr val="A1DAF8">
                      <a:alpha val="100000"/>
                    </a:srgbClr>
                  </a:gs>
                  <a:gs pos="100000">
                    <a:srgbClr val="D4F0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12934" cy="305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sz="2199" spc="48">
                  <a:solidFill>
                    <a:srgbClr val="000000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ROLE SELECTION &amp; LOGIN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1DAF8">
                <a:alpha val="100000"/>
              </a:srgbClr>
            </a:gs>
            <a:gs pos="100000">
              <a:srgbClr val="D4F0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7226" y="534752"/>
            <a:ext cx="9545950" cy="6723048"/>
            <a:chOff x="0" y="0"/>
            <a:chExt cx="5557619" cy="3914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57620" cy="3914134"/>
            </a:xfrm>
            <a:custGeom>
              <a:avLst/>
              <a:gdLst/>
              <a:ahLst/>
              <a:cxnLst/>
              <a:rect r="r" b="b" t="t" l="l"/>
              <a:pathLst>
                <a:path h="3914134" w="5557620">
                  <a:moveTo>
                    <a:pt x="53932" y="3346126"/>
                  </a:moveTo>
                  <a:cubicBezTo>
                    <a:pt x="53932" y="3346126"/>
                    <a:pt x="-9098" y="3099562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4669778" y="456"/>
                  </a:cubicBezTo>
                  <a:cubicBezTo>
                    <a:pt x="4886527" y="10310"/>
                    <a:pt x="5090842" y="29972"/>
                    <a:pt x="5225030" y="95181"/>
                  </a:cubicBezTo>
                  <a:cubicBezTo>
                    <a:pt x="5481076" y="219611"/>
                    <a:pt x="5562851" y="452651"/>
                    <a:pt x="5557363" y="698175"/>
                  </a:cubicBezTo>
                  <a:cubicBezTo>
                    <a:pt x="5557363" y="698175"/>
                    <a:pt x="5514075" y="1006564"/>
                    <a:pt x="5521509" y="1242098"/>
                  </a:cubicBezTo>
                  <a:cubicBezTo>
                    <a:pt x="5528632" y="3087928"/>
                    <a:pt x="5535789" y="3283531"/>
                    <a:pt x="5535789" y="3283531"/>
                  </a:cubicBezTo>
                  <a:cubicBezTo>
                    <a:pt x="5519107" y="3499263"/>
                    <a:pt x="5404463" y="3709875"/>
                    <a:pt x="5207594" y="3821499"/>
                  </a:cubicBezTo>
                  <a:cubicBezTo>
                    <a:pt x="5057242" y="3906748"/>
                    <a:pt x="4859212" y="3921845"/>
                    <a:pt x="3855973" y="3911104"/>
                  </a:cubicBezTo>
                  <a:cubicBezTo>
                    <a:pt x="636854" y="3905827"/>
                    <a:pt x="375506" y="3939680"/>
                    <a:pt x="245180" y="3830522"/>
                  </a:cubicBezTo>
                  <a:cubicBezTo>
                    <a:pt x="136669" y="3739637"/>
                    <a:pt x="72697" y="3546325"/>
                    <a:pt x="53932" y="33461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20984" y="-130467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7" y="0"/>
                </a:lnTo>
                <a:lnTo>
                  <a:pt x="1839837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54789" y="-351715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8" y="0"/>
                </a:lnTo>
                <a:lnTo>
                  <a:pt x="1839838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825516" y="1085044"/>
            <a:ext cx="7310198" cy="672349"/>
            <a:chOff x="0" y="0"/>
            <a:chExt cx="2933024" cy="2697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33024" cy="269762"/>
            </a:xfrm>
            <a:custGeom>
              <a:avLst/>
              <a:gdLst/>
              <a:ahLst/>
              <a:cxnLst/>
              <a:rect r="r" b="b" t="t" l="l"/>
              <a:pathLst>
                <a:path h="269762" w="2933024">
                  <a:moveTo>
                    <a:pt x="15886" y="0"/>
                  </a:moveTo>
                  <a:lnTo>
                    <a:pt x="2917138" y="0"/>
                  </a:lnTo>
                  <a:cubicBezTo>
                    <a:pt x="2925912" y="0"/>
                    <a:pt x="2933024" y="7112"/>
                    <a:pt x="2933024" y="15886"/>
                  </a:cubicBezTo>
                  <a:lnTo>
                    <a:pt x="2933024" y="253876"/>
                  </a:lnTo>
                  <a:cubicBezTo>
                    <a:pt x="2933024" y="262650"/>
                    <a:pt x="2925912" y="269762"/>
                    <a:pt x="2917138" y="269762"/>
                  </a:cubicBezTo>
                  <a:lnTo>
                    <a:pt x="15886" y="269762"/>
                  </a:lnTo>
                  <a:cubicBezTo>
                    <a:pt x="11673" y="269762"/>
                    <a:pt x="7632" y="268089"/>
                    <a:pt x="4653" y="265109"/>
                  </a:cubicBezTo>
                  <a:cubicBezTo>
                    <a:pt x="1674" y="262130"/>
                    <a:pt x="0" y="258090"/>
                    <a:pt x="0" y="253876"/>
                  </a:cubicBezTo>
                  <a:lnTo>
                    <a:pt x="0" y="15886"/>
                  </a:lnTo>
                  <a:cubicBezTo>
                    <a:pt x="0" y="7112"/>
                    <a:pt x="7112" y="0"/>
                    <a:pt x="158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933024" cy="336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39"/>
                </a:lnSpc>
              </a:pPr>
              <a:r>
                <a:rPr lang="en-US" sz="3099" spc="68">
                  <a:solidFill>
                    <a:srgbClr val="0F1519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PROJECT IMHOTEP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563094" y="219794"/>
            <a:ext cx="1634214" cy="629915"/>
          </a:xfrm>
          <a:custGeom>
            <a:avLst/>
            <a:gdLst/>
            <a:ahLst/>
            <a:cxnLst/>
            <a:rect r="r" b="b" t="t" l="l"/>
            <a:pathLst>
              <a:path h="629915" w="1634214">
                <a:moveTo>
                  <a:pt x="0" y="0"/>
                </a:moveTo>
                <a:lnTo>
                  <a:pt x="1634215" y="0"/>
                </a:lnTo>
                <a:lnTo>
                  <a:pt x="1634215" y="629915"/>
                </a:lnTo>
                <a:lnTo>
                  <a:pt x="0" y="629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407459" y="1818382"/>
            <a:ext cx="2146312" cy="643834"/>
            <a:chOff x="0" y="0"/>
            <a:chExt cx="861151" cy="258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1151" cy="258321"/>
            </a:xfrm>
            <a:custGeom>
              <a:avLst/>
              <a:gdLst/>
              <a:ahLst/>
              <a:cxnLst/>
              <a:rect r="r" b="b" t="t" l="l"/>
              <a:pathLst>
                <a:path h="258321" w="861151">
                  <a:moveTo>
                    <a:pt x="54106" y="0"/>
                  </a:moveTo>
                  <a:lnTo>
                    <a:pt x="807045" y="0"/>
                  </a:lnTo>
                  <a:cubicBezTo>
                    <a:pt x="836927" y="0"/>
                    <a:pt x="861151" y="24224"/>
                    <a:pt x="861151" y="54106"/>
                  </a:cubicBezTo>
                  <a:lnTo>
                    <a:pt x="861151" y="204215"/>
                  </a:lnTo>
                  <a:cubicBezTo>
                    <a:pt x="861151" y="234097"/>
                    <a:pt x="836927" y="258321"/>
                    <a:pt x="807045" y="258321"/>
                  </a:cubicBezTo>
                  <a:lnTo>
                    <a:pt x="54106" y="258321"/>
                  </a:lnTo>
                  <a:cubicBezTo>
                    <a:pt x="24224" y="258321"/>
                    <a:pt x="0" y="234097"/>
                    <a:pt x="0" y="204215"/>
                  </a:cubicBezTo>
                  <a:lnTo>
                    <a:pt x="0" y="54106"/>
                  </a:lnTo>
                  <a:cubicBezTo>
                    <a:pt x="0" y="24224"/>
                    <a:pt x="24224" y="0"/>
                    <a:pt x="54106" y="0"/>
                  </a:cubicBezTo>
                  <a:close/>
                </a:path>
              </a:pathLst>
            </a:custGeom>
            <a:solidFill>
              <a:srgbClr val="9DD6FF"/>
            </a:solidFill>
            <a:ln w="9525" cap="sq">
              <a:gradFill>
                <a:gsLst>
                  <a:gs pos="0">
                    <a:srgbClr val="A1DAF8">
                      <a:alpha val="100000"/>
                    </a:srgbClr>
                  </a:gs>
                  <a:gs pos="100000">
                    <a:srgbClr val="D4F0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61151" cy="305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sz="2199" spc="48">
                  <a:solidFill>
                    <a:srgbClr val="000000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SOFTWARE UI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98935" y="6064517"/>
            <a:ext cx="1633396" cy="1478966"/>
          </a:xfrm>
          <a:custGeom>
            <a:avLst/>
            <a:gdLst/>
            <a:ahLst/>
            <a:cxnLst/>
            <a:rect r="r" b="b" t="t" l="l"/>
            <a:pathLst>
              <a:path h="1478966" w="1633396">
                <a:moveTo>
                  <a:pt x="0" y="0"/>
                </a:moveTo>
                <a:lnTo>
                  <a:pt x="1633396" y="0"/>
                </a:lnTo>
                <a:lnTo>
                  <a:pt x="1633396" y="1478966"/>
                </a:lnTo>
                <a:lnTo>
                  <a:pt x="0" y="14789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958676" y="6166278"/>
            <a:ext cx="1733324" cy="1377205"/>
          </a:xfrm>
          <a:custGeom>
            <a:avLst/>
            <a:gdLst/>
            <a:ahLst/>
            <a:cxnLst/>
            <a:rect r="r" b="b" t="t" l="l"/>
            <a:pathLst>
              <a:path h="1377205" w="1733324">
                <a:moveTo>
                  <a:pt x="0" y="0"/>
                </a:moveTo>
                <a:lnTo>
                  <a:pt x="1733324" y="0"/>
                </a:lnTo>
                <a:lnTo>
                  <a:pt x="1733324" y="1377205"/>
                </a:lnTo>
                <a:lnTo>
                  <a:pt x="0" y="13772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90201" y="2519366"/>
            <a:ext cx="4590000" cy="3319838"/>
          </a:xfrm>
          <a:custGeom>
            <a:avLst/>
            <a:gdLst/>
            <a:ahLst/>
            <a:cxnLst/>
            <a:rect r="r" b="b" t="t" l="l"/>
            <a:pathLst>
              <a:path h="3319838" w="4590000">
                <a:moveTo>
                  <a:pt x="0" y="0"/>
                </a:moveTo>
                <a:lnTo>
                  <a:pt x="4590000" y="0"/>
                </a:lnTo>
                <a:lnTo>
                  <a:pt x="4590000" y="3319838"/>
                </a:lnTo>
                <a:lnTo>
                  <a:pt x="0" y="33198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085" t="-1158" r="-3823" b="-1158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697792" y="2519366"/>
            <a:ext cx="4455385" cy="3319838"/>
          </a:xfrm>
          <a:custGeom>
            <a:avLst/>
            <a:gdLst/>
            <a:ahLst/>
            <a:cxnLst/>
            <a:rect r="r" b="b" t="t" l="l"/>
            <a:pathLst>
              <a:path h="3319838" w="4455385">
                <a:moveTo>
                  <a:pt x="0" y="0"/>
                </a:moveTo>
                <a:lnTo>
                  <a:pt x="4455385" y="0"/>
                </a:lnTo>
                <a:lnTo>
                  <a:pt x="4455385" y="3319838"/>
                </a:lnTo>
                <a:lnTo>
                  <a:pt x="0" y="331983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223" t="0" r="-3223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4094326" y="6297705"/>
            <a:ext cx="2772580" cy="643834"/>
            <a:chOff x="0" y="0"/>
            <a:chExt cx="1112425" cy="2583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12425" cy="258321"/>
            </a:xfrm>
            <a:custGeom>
              <a:avLst/>
              <a:gdLst/>
              <a:ahLst/>
              <a:cxnLst/>
              <a:rect r="r" b="b" t="t" l="l"/>
              <a:pathLst>
                <a:path h="258321" w="1112425">
                  <a:moveTo>
                    <a:pt x="41885" y="0"/>
                  </a:moveTo>
                  <a:lnTo>
                    <a:pt x="1070540" y="0"/>
                  </a:lnTo>
                  <a:cubicBezTo>
                    <a:pt x="1081648" y="0"/>
                    <a:pt x="1092302" y="4413"/>
                    <a:pt x="1100157" y="12268"/>
                  </a:cubicBezTo>
                  <a:cubicBezTo>
                    <a:pt x="1108012" y="20123"/>
                    <a:pt x="1112425" y="30776"/>
                    <a:pt x="1112425" y="41885"/>
                  </a:cubicBezTo>
                  <a:lnTo>
                    <a:pt x="1112425" y="216437"/>
                  </a:lnTo>
                  <a:cubicBezTo>
                    <a:pt x="1112425" y="227545"/>
                    <a:pt x="1108012" y="238199"/>
                    <a:pt x="1100157" y="246054"/>
                  </a:cubicBezTo>
                  <a:cubicBezTo>
                    <a:pt x="1092302" y="253909"/>
                    <a:pt x="1081648" y="258321"/>
                    <a:pt x="1070540" y="258321"/>
                  </a:cubicBezTo>
                  <a:lnTo>
                    <a:pt x="41885" y="258321"/>
                  </a:lnTo>
                  <a:cubicBezTo>
                    <a:pt x="30776" y="258321"/>
                    <a:pt x="20123" y="253909"/>
                    <a:pt x="12268" y="246054"/>
                  </a:cubicBezTo>
                  <a:cubicBezTo>
                    <a:pt x="4413" y="238199"/>
                    <a:pt x="0" y="227545"/>
                    <a:pt x="0" y="216437"/>
                  </a:cubicBezTo>
                  <a:lnTo>
                    <a:pt x="0" y="41885"/>
                  </a:lnTo>
                  <a:cubicBezTo>
                    <a:pt x="0" y="30776"/>
                    <a:pt x="4413" y="20123"/>
                    <a:pt x="12268" y="12268"/>
                  </a:cubicBezTo>
                  <a:cubicBezTo>
                    <a:pt x="20123" y="4413"/>
                    <a:pt x="30776" y="0"/>
                    <a:pt x="41885" y="0"/>
                  </a:cubicBezTo>
                  <a:close/>
                </a:path>
              </a:pathLst>
            </a:custGeom>
            <a:solidFill>
              <a:srgbClr val="9DD6FF"/>
            </a:solidFill>
            <a:ln w="9525" cap="sq">
              <a:gradFill>
                <a:gsLst>
                  <a:gs pos="0">
                    <a:srgbClr val="A1DAF8">
                      <a:alpha val="100000"/>
                    </a:srgbClr>
                  </a:gs>
                  <a:gs pos="100000">
                    <a:srgbClr val="D4F0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112425" cy="305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sz="2199" spc="48">
                  <a:solidFill>
                    <a:srgbClr val="000000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REGISTRATION &amp; FORGOT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1DAF8">
                <a:alpha val="100000"/>
              </a:srgbClr>
            </a:gs>
            <a:gs pos="100000">
              <a:srgbClr val="D4F0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7226" y="534752"/>
            <a:ext cx="9545950" cy="6723048"/>
            <a:chOff x="0" y="0"/>
            <a:chExt cx="5557619" cy="3914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57620" cy="3914134"/>
            </a:xfrm>
            <a:custGeom>
              <a:avLst/>
              <a:gdLst/>
              <a:ahLst/>
              <a:cxnLst/>
              <a:rect r="r" b="b" t="t" l="l"/>
              <a:pathLst>
                <a:path h="3914134" w="5557620">
                  <a:moveTo>
                    <a:pt x="53932" y="3346126"/>
                  </a:moveTo>
                  <a:cubicBezTo>
                    <a:pt x="53932" y="3346126"/>
                    <a:pt x="-9098" y="3099562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4669778" y="456"/>
                  </a:cubicBezTo>
                  <a:cubicBezTo>
                    <a:pt x="4886527" y="10310"/>
                    <a:pt x="5090842" y="29972"/>
                    <a:pt x="5225030" y="95181"/>
                  </a:cubicBezTo>
                  <a:cubicBezTo>
                    <a:pt x="5481076" y="219611"/>
                    <a:pt x="5562851" y="452651"/>
                    <a:pt x="5557363" y="698175"/>
                  </a:cubicBezTo>
                  <a:cubicBezTo>
                    <a:pt x="5557363" y="698175"/>
                    <a:pt x="5514075" y="1006564"/>
                    <a:pt x="5521509" y="1242098"/>
                  </a:cubicBezTo>
                  <a:cubicBezTo>
                    <a:pt x="5528632" y="3087928"/>
                    <a:pt x="5535789" y="3283531"/>
                    <a:pt x="5535789" y="3283531"/>
                  </a:cubicBezTo>
                  <a:cubicBezTo>
                    <a:pt x="5519107" y="3499263"/>
                    <a:pt x="5404463" y="3709875"/>
                    <a:pt x="5207594" y="3821499"/>
                  </a:cubicBezTo>
                  <a:cubicBezTo>
                    <a:pt x="5057242" y="3906748"/>
                    <a:pt x="4859212" y="3921845"/>
                    <a:pt x="3855973" y="3911104"/>
                  </a:cubicBezTo>
                  <a:cubicBezTo>
                    <a:pt x="636854" y="3905827"/>
                    <a:pt x="375506" y="3939680"/>
                    <a:pt x="245180" y="3830522"/>
                  </a:cubicBezTo>
                  <a:cubicBezTo>
                    <a:pt x="136669" y="3739637"/>
                    <a:pt x="72697" y="3546325"/>
                    <a:pt x="53932" y="33461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20984" y="-130467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7" y="0"/>
                </a:lnTo>
                <a:lnTo>
                  <a:pt x="1839837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54789" y="-351715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8" y="0"/>
                </a:lnTo>
                <a:lnTo>
                  <a:pt x="1839838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825516" y="997871"/>
            <a:ext cx="7310198" cy="672349"/>
            <a:chOff x="0" y="0"/>
            <a:chExt cx="2933024" cy="2697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33024" cy="269762"/>
            </a:xfrm>
            <a:custGeom>
              <a:avLst/>
              <a:gdLst/>
              <a:ahLst/>
              <a:cxnLst/>
              <a:rect r="r" b="b" t="t" l="l"/>
              <a:pathLst>
                <a:path h="269762" w="2933024">
                  <a:moveTo>
                    <a:pt x="15886" y="0"/>
                  </a:moveTo>
                  <a:lnTo>
                    <a:pt x="2917138" y="0"/>
                  </a:lnTo>
                  <a:cubicBezTo>
                    <a:pt x="2925912" y="0"/>
                    <a:pt x="2933024" y="7112"/>
                    <a:pt x="2933024" y="15886"/>
                  </a:cubicBezTo>
                  <a:lnTo>
                    <a:pt x="2933024" y="253876"/>
                  </a:lnTo>
                  <a:cubicBezTo>
                    <a:pt x="2933024" y="262650"/>
                    <a:pt x="2925912" y="269762"/>
                    <a:pt x="2917138" y="269762"/>
                  </a:cubicBezTo>
                  <a:lnTo>
                    <a:pt x="15886" y="269762"/>
                  </a:lnTo>
                  <a:cubicBezTo>
                    <a:pt x="11673" y="269762"/>
                    <a:pt x="7632" y="268089"/>
                    <a:pt x="4653" y="265109"/>
                  </a:cubicBezTo>
                  <a:cubicBezTo>
                    <a:pt x="1674" y="262130"/>
                    <a:pt x="0" y="258090"/>
                    <a:pt x="0" y="253876"/>
                  </a:cubicBezTo>
                  <a:lnTo>
                    <a:pt x="0" y="15886"/>
                  </a:lnTo>
                  <a:cubicBezTo>
                    <a:pt x="0" y="7112"/>
                    <a:pt x="7112" y="0"/>
                    <a:pt x="158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933024" cy="336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39"/>
                </a:lnSpc>
              </a:pPr>
              <a:r>
                <a:rPr lang="en-US" sz="3099" spc="68">
                  <a:solidFill>
                    <a:srgbClr val="0F1519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PROJECT IMHOTEP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563094" y="219794"/>
            <a:ext cx="1634214" cy="629915"/>
          </a:xfrm>
          <a:custGeom>
            <a:avLst/>
            <a:gdLst/>
            <a:ahLst/>
            <a:cxnLst/>
            <a:rect r="r" b="b" t="t" l="l"/>
            <a:pathLst>
              <a:path h="629915" w="1634214">
                <a:moveTo>
                  <a:pt x="0" y="0"/>
                </a:moveTo>
                <a:lnTo>
                  <a:pt x="1634215" y="0"/>
                </a:lnTo>
                <a:lnTo>
                  <a:pt x="1634215" y="629915"/>
                </a:lnTo>
                <a:lnTo>
                  <a:pt x="0" y="629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407459" y="1747212"/>
            <a:ext cx="2146312" cy="643834"/>
            <a:chOff x="0" y="0"/>
            <a:chExt cx="861151" cy="258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1151" cy="258321"/>
            </a:xfrm>
            <a:custGeom>
              <a:avLst/>
              <a:gdLst/>
              <a:ahLst/>
              <a:cxnLst/>
              <a:rect r="r" b="b" t="t" l="l"/>
              <a:pathLst>
                <a:path h="258321" w="861151">
                  <a:moveTo>
                    <a:pt x="54106" y="0"/>
                  </a:moveTo>
                  <a:lnTo>
                    <a:pt x="807045" y="0"/>
                  </a:lnTo>
                  <a:cubicBezTo>
                    <a:pt x="836927" y="0"/>
                    <a:pt x="861151" y="24224"/>
                    <a:pt x="861151" y="54106"/>
                  </a:cubicBezTo>
                  <a:lnTo>
                    <a:pt x="861151" y="204215"/>
                  </a:lnTo>
                  <a:cubicBezTo>
                    <a:pt x="861151" y="234097"/>
                    <a:pt x="836927" y="258321"/>
                    <a:pt x="807045" y="258321"/>
                  </a:cubicBezTo>
                  <a:lnTo>
                    <a:pt x="54106" y="258321"/>
                  </a:lnTo>
                  <a:cubicBezTo>
                    <a:pt x="24224" y="258321"/>
                    <a:pt x="0" y="234097"/>
                    <a:pt x="0" y="204215"/>
                  </a:cubicBezTo>
                  <a:lnTo>
                    <a:pt x="0" y="54106"/>
                  </a:lnTo>
                  <a:cubicBezTo>
                    <a:pt x="0" y="24224"/>
                    <a:pt x="24224" y="0"/>
                    <a:pt x="54106" y="0"/>
                  </a:cubicBezTo>
                  <a:close/>
                </a:path>
              </a:pathLst>
            </a:custGeom>
            <a:solidFill>
              <a:srgbClr val="9DD6FF"/>
            </a:solidFill>
            <a:ln w="9525" cap="sq">
              <a:gradFill>
                <a:gsLst>
                  <a:gs pos="0">
                    <a:srgbClr val="A1DAF8">
                      <a:alpha val="100000"/>
                    </a:srgbClr>
                  </a:gs>
                  <a:gs pos="100000">
                    <a:srgbClr val="D4F0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61151" cy="305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sz="2199" spc="48">
                  <a:solidFill>
                    <a:srgbClr val="000000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SOFTWARE UI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98935" y="6064517"/>
            <a:ext cx="1633396" cy="1478966"/>
          </a:xfrm>
          <a:custGeom>
            <a:avLst/>
            <a:gdLst/>
            <a:ahLst/>
            <a:cxnLst/>
            <a:rect r="r" b="b" t="t" l="l"/>
            <a:pathLst>
              <a:path h="1478966" w="1633396">
                <a:moveTo>
                  <a:pt x="0" y="0"/>
                </a:moveTo>
                <a:lnTo>
                  <a:pt x="1633396" y="0"/>
                </a:lnTo>
                <a:lnTo>
                  <a:pt x="1633396" y="1478966"/>
                </a:lnTo>
                <a:lnTo>
                  <a:pt x="0" y="14789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958676" y="6166278"/>
            <a:ext cx="1733324" cy="1377205"/>
          </a:xfrm>
          <a:custGeom>
            <a:avLst/>
            <a:gdLst/>
            <a:ahLst/>
            <a:cxnLst/>
            <a:rect r="r" b="b" t="t" l="l"/>
            <a:pathLst>
              <a:path h="1377205" w="1733324">
                <a:moveTo>
                  <a:pt x="0" y="0"/>
                </a:moveTo>
                <a:lnTo>
                  <a:pt x="1733324" y="0"/>
                </a:lnTo>
                <a:lnTo>
                  <a:pt x="1733324" y="1377205"/>
                </a:lnTo>
                <a:lnTo>
                  <a:pt x="0" y="13772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266387" y="2468038"/>
            <a:ext cx="6325049" cy="4183285"/>
          </a:xfrm>
          <a:custGeom>
            <a:avLst/>
            <a:gdLst/>
            <a:ahLst/>
            <a:cxnLst/>
            <a:rect r="r" b="b" t="t" l="l"/>
            <a:pathLst>
              <a:path h="4183285" w="6325049">
                <a:moveTo>
                  <a:pt x="0" y="0"/>
                </a:moveTo>
                <a:lnTo>
                  <a:pt x="6325049" y="0"/>
                </a:lnTo>
                <a:lnTo>
                  <a:pt x="6325049" y="4183285"/>
                </a:lnTo>
                <a:lnTo>
                  <a:pt x="0" y="418328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4431" r="0" b="-4431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272844" y="6702651"/>
            <a:ext cx="2146312" cy="555149"/>
            <a:chOff x="0" y="0"/>
            <a:chExt cx="861151" cy="2227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1151" cy="222739"/>
            </a:xfrm>
            <a:custGeom>
              <a:avLst/>
              <a:gdLst/>
              <a:ahLst/>
              <a:cxnLst/>
              <a:rect r="r" b="b" t="t" l="l"/>
              <a:pathLst>
                <a:path h="222739" w="861151">
                  <a:moveTo>
                    <a:pt x="54106" y="0"/>
                  </a:moveTo>
                  <a:lnTo>
                    <a:pt x="807045" y="0"/>
                  </a:lnTo>
                  <a:cubicBezTo>
                    <a:pt x="836927" y="0"/>
                    <a:pt x="861151" y="24224"/>
                    <a:pt x="861151" y="54106"/>
                  </a:cubicBezTo>
                  <a:lnTo>
                    <a:pt x="861151" y="168633"/>
                  </a:lnTo>
                  <a:cubicBezTo>
                    <a:pt x="861151" y="198515"/>
                    <a:pt x="836927" y="222739"/>
                    <a:pt x="807045" y="222739"/>
                  </a:cubicBezTo>
                  <a:lnTo>
                    <a:pt x="54106" y="222739"/>
                  </a:lnTo>
                  <a:cubicBezTo>
                    <a:pt x="24224" y="222739"/>
                    <a:pt x="0" y="198515"/>
                    <a:pt x="0" y="168633"/>
                  </a:cubicBezTo>
                  <a:lnTo>
                    <a:pt x="0" y="54106"/>
                  </a:lnTo>
                  <a:cubicBezTo>
                    <a:pt x="0" y="24224"/>
                    <a:pt x="24224" y="0"/>
                    <a:pt x="54106" y="0"/>
                  </a:cubicBezTo>
                  <a:close/>
                </a:path>
              </a:pathLst>
            </a:custGeom>
            <a:solidFill>
              <a:srgbClr val="9DD6FF"/>
            </a:solidFill>
            <a:ln w="9525" cap="sq">
              <a:gradFill>
                <a:gsLst>
                  <a:gs pos="0">
                    <a:srgbClr val="A1DAF8">
                      <a:alpha val="100000"/>
                    </a:srgbClr>
                  </a:gs>
                  <a:gs pos="100000">
                    <a:srgbClr val="D4F0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61151" cy="270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sz="2199" spc="48">
                  <a:solidFill>
                    <a:srgbClr val="000000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DOCTOR PORTAL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1DAF8">
                <a:alpha val="100000"/>
              </a:srgbClr>
            </a:gs>
            <a:gs pos="100000">
              <a:srgbClr val="D4F0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7640" y="534752"/>
            <a:ext cx="9545950" cy="6723048"/>
            <a:chOff x="0" y="0"/>
            <a:chExt cx="5557619" cy="3914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57620" cy="3914134"/>
            </a:xfrm>
            <a:custGeom>
              <a:avLst/>
              <a:gdLst/>
              <a:ahLst/>
              <a:cxnLst/>
              <a:rect r="r" b="b" t="t" l="l"/>
              <a:pathLst>
                <a:path h="3914134" w="5557620">
                  <a:moveTo>
                    <a:pt x="53932" y="3346126"/>
                  </a:moveTo>
                  <a:cubicBezTo>
                    <a:pt x="53932" y="3346126"/>
                    <a:pt x="-9098" y="3099562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4669778" y="456"/>
                  </a:cubicBezTo>
                  <a:cubicBezTo>
                    <a:pt x="4886527" y="10310"/>
                    <a:pt x="5090842" y="29972"/>
                    <a:pt x="5225030" y="95181"/>
                  </a:cubicBezTo>
                  <a:cubicBezTo>
                    <a:pt x="5481076" y="219611"/>
                    <a:pt x="5562851" y="452651"/>
                    <a:pt x="5557363" y="698175"/>
                  </a:cubicBezTo>
                  <a:cubicBezTo>
                    <a:pt x="5557363" y="698175"/>
                    <a:pt x="5514075" y="1006564"/>
                    <a:pt x="5521509" y="1242098"/>
                  </a:cubicBezTo>
                  <a:cubicBezTo>
                    <a:pt x="5528632" y="3087928"/>
                    <a:pt x="5535789" y="3283531"/>
                    <a:pt x="5535789" y="3283531"/>
                  </a:cubicBezTo>
                  <a:cubicBezTo>
                    <a:pt x="5519107" y="3499263"/>
                    <a:pt x="5404463" y="3709875"/>
                    <a:pt x="5207594" y="3821499"/>
                  </a:cubicBezTo>
                  <a:cubicBezTo>
                    <a:pt x="5057242" y="3906748"/>
                    <a:pt x="4859212" y="3921845"/>
                    <a:pt x="3855973" y="3911104"/>
                  </a:cubicBezTo>
                  <a:cubicBezTo>
                    <a:pt x="636854" y="3905827"/>
                    <a:pt x="375506" y="3939680"/>
                    <a:pt x="245180" y="3830522"/>
                  </a:cubicBezTo>
                  <a:cubicBezTo>
                    <a:pt x="136669" y="3739637"/>
                    <a:pt x="72697" y="3546325"/>
                    <a:pt x="53932" y="33461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20984" y="-130467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7" y="0"/>
                </a:lnTo>
                <a:lnTo>
                  <a:pt x="1839837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54789" y="-351715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8" y="0"/>
                </a:lnTo>
                <a:lnTo>
                  <a:pt x="1839838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825516" y="970118"/>
            <a:ext cx="7310198" cy="672349"/>
            <a:chOff x="0" y="0"/>
            <a:chExt cx="2933024" cy="2697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33024" cy="269762"/>
            </a:xfrm>
            <a:custGeom>
              <a:avLst/>
              <a:gdLst/>
              <a:ahLst/>
              <a:cxnLst/>
              <a:rect r="r" b="b" t="t" l="l"/>
              <a:pathLst>
                <a:path h="269762" w="2933024">
                  <a:moveTo>
                    <a:pt x="15886" y="0"/>
                  </a:moveTo>
                  <a:lnTo>
                    <a:pt x="2917138" y="0"/>
                  </a:lnTo>
                  <a:cubicBezTo>
                    <a:pt x="2925912" y="0"/>
                    <a:pt x="2933024" y="7112"/>
                    <a:pt x="2933024" y="15886"/>
                  </a:cubicBezTo>
                  <a:lnTo>
                    <a:pt x="2933024" y="253876"/>
                  </a:lnTo>
                  <a:cubicBezTo>
                    <a:pt x="2933024" y="262650"/>
                    <a:pt x="2925912" y="269762"/>
                    <a:pt x="2917138" y="269762"/>
                  </a:cubicBezTo>
                  <a:lnTo>
                    <a:pt x="15886" y="269762"/>
                  </a:lnTo>
                  <a:cubicBezTo>
                    <a:pt x="11673" y="269762"/>
                    <a:pt x="7632" y="268089"/>
                    <a:pt x="4653" y="265109"/>
                  </a:cubicBezTo>
                  <a:cubicBezTo>
                    <a:pt x="1674" y="262130"/>
                    <a:pt x="0" y="258090"/>
                    <a:pt x="0" y="253876"/>
                  </a:cubicBezTo>
                  <a:lnTo>
                    <a:pt x="0" y="15886"/>
                  </a:lnTo>
                  <a:cubicBezTo>
                    <a:pt x="0" y="7112"/>
                    <a:pt x="7112" y="0"/>
                    <a:pt x="158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933024" cy="336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39"/>
                </a:lnSpc>
              </a:pPr>
              <a:r>
                <a:rPr lang="en-US" sz="3099" spc="68">
                  <a:solidFill>
                    <a:srgbClr val="0F1519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PROJECT IMHOTEP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563094" y="219794"/>
            <a:ext cx="1634214" cy="629915"/>
          </a:xfrm>
          <a:custGeom>
            <a:avLst/>
            <a:gdLst/>
            <a:ahLst/>
            <a:cxnLst/>
            <a:rect r="r" b="b" t="t" l="l"/>
            <a:pathLst>
              <a:path h="629915" w="1634214">
                <a:moveTo>
                  <a:pt x="0" y="0"/>
                </a:moveTo>
                <a:lnTo>
                  <a:pt x="1634215" y="0"/>
                </a:lnTo>
                <a:lnTo>
                  <a:pt x="1634215" y="629915"/>
                </a:lnTo>
                <a:lnTo>
                  <a:pt x="0" y="629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407459" y="1766292"/>
            <a:ext cx="2146312" cy="643834"/>
            <a:chOff x="0" y="0"/>
            <a:chExt cx="861151" cy="258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1151" cy="258321"/>
            </a:xfrm>
            <a:custGeom>
              <a:avLst/>
              <a:gdLst/>
              <a:ahLst/>
              <a:cxnLst/>
              <a:rect r="r" b="b" t="t" l="l"/>
              <a:pathLst>
                <a:path h="258321" w="861151">
                  <a:moveTo>
                    <a:pt x="54106" y="0"/>
                  </a:moveTo>
                  <a:lnTo>
                    <a:pt x="807045" y="0"/>
                  </a:lnTo>
                  <a:cubicBezTo>
                    <a:pt x="836927" y="0"/>
                    <a:pt x="861151" y="24224"/>
                    <a:pt x="861151" y="54106"/>
                  </a:cubicBezTo>
                  <a:lnTo>
                    <a:pt x="861151" y="204215"/>
                  </a:lnTo>
                  <a:cubicBezTo>
                    <a:pt x="861151" y="234097"/>
                    <a:pt x="836927" y="258321"/>
                    <a:pt x="807045" y="258321"/>
                  </a:cubicBezTo>
                  <a:lnTo>
                    <a:pt x="54106" y="258321"/>
                  </a:lnTo>
                  <a:cubicBezTo>
                    <a:pt x="24224" y="258321"/>
                    <a:pt x="0" y="234097"/>
                    <a:pt x="0" y="204215"/>
                  </a:cubicBezTo>
                  <a:lnTo>
                    <a:pt x="0" y="54106"/>
                  </a:lnTo>
                  <a:cubicBezTo>
                    <a:pt x="0" y="24224"/>
                    <a:pt x="24224" y="0"/>
                    <a:pt x="54106" y="0"/>
                  </a:cubicBezTo>
                  <a:close/>
                </a:path>
              </a:pathLst>
            </a:custGeom>
            <a:solidFill>
              <a:srgbClr val="9DD6FF"/>
            </a:solidFill>
            <a:ln w="9525" cap="sq">
              <a:gradFill>
                <a:gsLst>
                  <a:gs pos="0">
                    <a:srgbClr val="A1DAF8">
                      <a:alpha val="100000"/>
                    </a:srgbClr>
                  </a:gs>
                  <a:gs pos="100000">
                    <a:srgbClr val="D4F0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61151" cy="305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sz="2199" spc="48">
                  <a:solidFill>
                    <a:srgbClr val="000000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SOFTWARE UI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98935" y="6064517"/>
            <a:ext cx="1633396" cy="1478966"/>
          </a:xfrm>
          <a:custGeom>
            <a:avLst/>
            <a:gdLst/>
            <a:ahLst/>
            <a:cxnLst/>
            <a:rect r="r" b="b" t="t" l="l"/>
            <a:pathLst>
              <a:path h="1478966" w="1633396">
                <a:moveTo>
                  <a:pt x="0" y="0"/>
                </a:moveTo>
                <a:lnTo>
                  <a:pt x="1633396" y="0"/>
                </a:lnTo>
                <a:lnTo>
                  <a:pt x="1633396" y="1478966"/>
                </a:lnTo>
                <a:lnTo>
                  <a:pt x="0" y="14789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958676" y="6166278"/>
            <a:ext cx="1733324" cy="1377205"/>
          </a:xfrm>
          <a:custGeom>
            <a:avLst/>
            <a:gdLst/>
            <a:ahLst/>
            <a:cxnLst/>
            <a:rect r="r" b="b" t="t" l="l"/>
            <a:pathLst>
              <a:path h="1377205" w="1733324">
                <a:moveTo>
                  <a:pt x="0" y="0"/>
                </a:moveTo>
                <a:lnTo>
                  <a:pt x="1733324" y="0"/>
                </a:lnTo>
                <a:lnTo>
                  <a:pt x="1733324" y="1377205"/>
                </a:lnTo>
                <a:lnTo>
                  <a:pt x="0" y="13772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326707" y="2498127"/>
            <a:ext cx="6307817" cy="4027839"/>
          </a:xfrm>
          <a:custGeom>
            <a:avLst/>
            <a:gdLst/>
            <a:ahLst/>
            <a:cxnLst/>
            <a:rect r="r" b="b" t="t" l="l"/>
            <a:pathLst>
              <a:path h="4027839" w="6307817">
                <a:moveTo>
                  <a:pt x="0" y="0"/>
                </a:moveTo>
                <a:lnTo>
                  <a:pt x="6307817" y="0"/>
                </a:lnTo>
                <a:lnTo>
                  <a:pt x="6307817" y="4027838"/>
                </a:lnTo>
                <a:lnTo>
                  <a:pt x="0" y="40278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8609" r="0" b="-4146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407459" y="6532964"/>
            <a:ext cx="2146312" cy="643834"/>
            <a:chOff x="0" y="0"/>
            <a:chExt cx="861151" cy="2583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1151" cy="258321"/>
            </a:xfrm>
            <a:custGeom>
              <a:avLst/>
              <a:gdLst/>
              <a:ahLst/>
              <a:cxnLst/>
              <a:rect r="r" b="b" t="t" l="l"/>
              <a:pathLst>
                <a:path h="258321" w="861151">
                  <a:moveTo>
                    <a:pt x="54106" y="0"/>
                  </a:moveTo>
                  <a:lnTo>
                    <a:pt x="807045" y="0"/>
                  </a:lnTo>
                  <a:cubicBezTo>
                    <a:pt x="836927" y="0"/>
                    <a:pt x="861151" y="24224"/>
                    <a:pt x="861151" y="54106"/>
                  </a:cubicBezTo>
                  <a:lnTo>
                    <a:pt x="861151" y="204215"/>
                  </a:lnTo>
                  <a:cubicBezTo>
                    <a:pt x="861151" y="234097"/>
                    <a:pt x="836927" y="258321"/>
                    <a:pt x="807045" y="258321"/>
                  </a:cubicBezTo>
                  <a:lnTo>
                    <a:pt x="54106" y="258321"/>
                  </a:lnTo>
                  <a:cubicBezTo>
                    <a:pt x="24224" y="258321"/>
                    <a:pt x="0" y="234097"/>
                    <a:pt x="0" y="204215"/>
                  </a:cubicBezTo>
                  <a:lnTo>
                    <a:pt x="0" y="54106"/>
                  </a:lnTo>
                  <a:cubicBezTo>
                    <a:pt x="0" y="24224"/>
                    <a:pt x="24224" y="0"/>
                    <a:pt x="54106" y="0"/>
                  </a:cubicBezTo>
                  <a:close/>
                </a:path>
              </a:pathLst>
            </a:custGeom>
            <a:solidFill>
              <a:srgbClr val="9DD6FF"/>
            </a:solidFill>
            <a:ln w="9525" cap="sq">
              <a:gradFill>
                <a:gsLst>
                  <a:gs pos="0">
                    <a:srgbClr val="A1DAF8">
                      <a:alpha val="100000"/>
                    </a:srgbClr>
                  </a:gs>
                  <a:gs pos="100000">
                    <a:srgbClr val="D4F0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61151" cy="305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sz="2199" spc="48">
                  <a:solidFill>
                    <a:srgbClr val="000000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PATIENT’S PORTAL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1DAF8">
                <a:alpha val="100000"/>
              </a:srgbClr>
            </a:gs>
            <a:gs pos="100000">
              <a:srgbClr val="D4F0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7226" y="534752"/>
            <a:ext cx="9545950" cy="6723048"/>
            <a:chOff x="0" y="0"/>
            <a:chExt cx="5557619" cy="3914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57620" cy="3914134"/>
            </a:xfrm>
            <a:custGeom>
              <a:avLst/>
              <a:gdLst/>
              <a:ahLst/>
              <a:cxnLst/>
              <a:rect r="r" b="b" t="t" l="l"/>
              <a:pathLst>
                <a:path h="3914134" w="5557620">
                  <a:moveTo>
                    <a:pt x="53932" y="3346126"/>
                  </a:moveTo>
                  <a:cubicBezTo>
                    <a:pt x="53932" y="3346126"/>
                    <a:pt x="-9098" y="3099562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4669778" y="456"/>
                  </a:cubicBezTo>
                  <a:cubicBezTo>
                    <a:pt x="4886527" y="10310"/>
                    <a:pt x="5090842" y="29972"/>
                    <a:pt x="5225030" y="95181"/>
                  </a:cubicBezTo>
                  <a:cubicBezTo>
                    <a:pt x="5481076" y="219611"/>
                    <a:pt x="5562851" y="452651"/>
                    <a:pt x="5557363" y="698175"/>
                  </a:cubicBezTo>
                  <a:cubicBezTo>
                    <a:pt x="5557363" y="698175"/>
                    <a:pt x="5514075" y="1006564"/>
                    <a:pt x="5521509" y="1242098"/>
                  </a:cubicBezTo>
                  <a:cubicBezTo>
                    <a:pt x="5528632" y="3087928"/>
                    <a:pt x="5535789" y="3283531"/>
                    <a:pt x="5535789" y="3283531"/>
                  </a:cubicBezTo>
                  <a:cubicBezTo>
                    <a:pt x="5519107" y="3499263"/>
                    <a:pt x="5404463" y="3709875"/>
                    <a:pt x="5207594" y="3821499"/>
                  </a:cubicBezTo>
                  <a:cubicBezTo>
                    <a:pt x="5057242" y="3906748"/>
                    <a:pt x="4859212" y="3921845"/>
                    <a:pt x="3855973" y="3911104"/>
                  </a:cubicBezTo>
                  <a:cubicBezTo>
                    <a:pt x="636854" y="3905827"/>
                    <a:pt x="375506" y="3939680"/>
                    <a:pt x="245180" y="3830522"/>
                  </a:cubicBezTo>
                  <a:cubicBezTo>
                    <a:pt x="136669" y="3739637"/>
                    <a:pt x="72697" y="3546325"/>
                    <a:pt x="53932" y="33461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20984" y="-130467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7" y="0"/>
                </a:lnTo>
                <a:lnTo>
                  <a:pt x="1839837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54789" y="-351715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8" y="0"/>
                </a:lnTo>
                <a:lnTo>
                  <a:pt x="1839838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825516" y="970118"/>
            <a:ext cx="7310198" cy="672349"/>
            <a:chOff x="0" y="0"/>
            <a:chExt cx="2933024" cy="2697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33024" cy="269762"/>
            </a:xfrm>
            <a:custGeom>
              <a:avLst/>
              <a:gdLst/>
              <a:ahLst/>
              <a:cxnLst/>
              <a:rect r="r" b="b" t="t" l="l"/>
              <a:pathLst>
                <a:path h="269762" w="2933024">
                  <a:moveTo>
                    <a:pt x="15886" y="0"/>
                  </a:moveTo>
                  <a:lnTo>
                    <a:pt x="2917138" y="0"/>
                  </a:lnTo>
                  <a:cubicBezTo>
                    <a:pt x="2925912" y="0"/>
                    <a:pt x="2933024" y="7112"/>
                    <a:pt x="2933024" y="15886"/>
                  </a:cubicBezTo>
                  <a:lnTo>
                    <a:pt x="2933024" y="253876"/>
                  </a:lnTo>
                  <a:cubicBezTo>
                    <a:pt x="2933024" y="262650"/>
                    <a:pt x="2925912" y="269762"/>
                    <a:pt x="2917138" y="269762"/>
                  </a:cubicBezTo>
                  <a:lnTo>
                    <a:pt x="15886" y="269762"/>
                  </a:lnTo>
                  <a:cubicBezTo>
                    <a:pt x="11673" y="269762"/>
                    <a:pt x="7632" y="268089"/>
                    <a:pt x="4653" y="265109"/>
                  </a:cubicBezTo>
                  <a:cubicBezTo>
                    <a:pt x="1674" y="262130"/>
                    <a:pt x="0" y="258090"/>
                    <a:pt x="0" y="253876"/>
                  </a:cubicBezTo>
                  <a:lnTo>
                    <a:pt x="0" y="15886"/>
                  </a:lnTo>
                  <a:cubicBezTo>
                    <a:pt x="0" y="7112"/>
                    <a:pt x="7112" y="0"/>
                    <a:pt x="158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933024" cy="336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39"/>
                </a:lnSpc>
              </a:pPr>
              <a:r>
                <a:rPr lang="en-US" sz="3099" spc="68">
                  <a:solidFill>
                    <a:srgbClr val="0F1519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PROJECT IMHOTEP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563094" y="219794"/>
            <a:ext cx="1634214" cy="629915"/>
          </a:xfrm>
          <a:custGeom>
            <a:avLst/>
            <a:gdLst/>
            <a:ahLst/>
            <a:cxnLst/>
            <a:rect r="r" b="b" t="t" l="l"/>
            <a:pathLst>
              <a:path h="629915" w="1634214">
                <a:moveTo>
                  <a:pt x="0" y="0"/>
                </a:moveTo>
                <a:lnTo>
                  <a:pt x="1634215" y="0"/>
                </a:lnTo>
                <a:lnTo>
                  <a:pt x="1634215" y="629915"/>
                </a:lnTo>
                <a:lnTo>
                  <a:pt x="0" y="629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407459" y="1766292"/>
            <a:ext cx="2146312" cy="643834"/>
            <a:chOff x="0" y="0"/>
            <a:chExt cx="861151" cy="2583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1151" cy="258321"/>
            </a:xfrm>
            <a:custGeom>
              <a:avLst/>
              <a:gdLst/>
              <a:ahLst/>
              <a:cxnLst/>
              <a:rect r="r" b="b" t="t" l="l"/>
              <a:pathLst>
                <a:path h="258321" w="861151">
                  <a:moveTo>
                    <a:pt x="54106" y="0"/>
                  </a:moveTo>
                  <a:lnTo>
                    <a:pt x="807045" y="0"/>
                  </a:lnTo>
                  <a:cubicBezTo>
                    <a:pt x="836927" y="0"/>
                    <a:pt x="861151" y="24224"/>
                    <a:pt x="861151" y="54106"/>
                  </a:cubicBezTo>
                  <a:lnTo>
                    <a:pt x="861151" y="204215"/>
                  </a:lnTo>
                  <a:cubicBezTo>
                    <a:pt x="861151" y="234097"/>
                    <a:pt x="836927" y="258321"/>
                    <a:pt x="807045" y="258321"/>
                  </a:cubicBezTo>
                  <a:lnTo>
                    <a:pt x="54106" y="258321"/>
                  </a:lnTo>
                  <a:cubicBezTo>
                    <a:pt x="24224" y="258321"/>
                    <a:pt x="0" y="234097"/>
                    <a:pt x="0" y="204215"/>
                  </a:cubicBezTo>
                  <a:lnTo>
                    <a:pt x="0" y="54106"/>
                  </a:lnTo>
                  <a:cubicBezTo>
                    <a:pt x="0" y="24224"/>
                    <a:pt x="24224" y="0"/>
                    <a:pt x="54106" y="0"/>
                  </a:cubicBezTo>
                  <a:close/>
                </a:path>
              </a:pathLst>
            </a:custGeom>
            <a:solidFill>
              <a:srgbClr val="9DD6FF"/>
            </a:solidFill>
            <a:ln w="9525" cap="sq">
              <a:gradFill>
                <a:gsLst>
                  <a:gs pos="0">
                    <a:srgbClr val="A1DAF8">
                      <a:alpha val="100000"/>
                    </a:srgbClr>
                  </a:gs>
                  <a:gs pos="100000">
                    <a:srgbClr val="D4F0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61151" cy="305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sz="2199" spc="48">
                  <a:solidFill>
                    <a:srgbClr val="000000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SOFTWARE UI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98935" y="6064517"/>
            <a:ext cx="1633396" cy="1478966"/>
          </a:xfrm>
          <a:custGeom>
            <a:avLst/>
            <a:gdLst/>
            <a:ahLst/>
            <a:cxnLst/>
            <a:rect r="r" b="b" t="t" l="l"/>
            <a:pathLst>
              <a:path h="1478966" w="1633396">
                <a:moveTo>
                  <a:pt x="0" y="0"/>
                </a:moveTo>
                <a:lnTo>
                  <a:pt x="1633396" y="0"/>
                </a:lnTo>
                <a:lnTo>
                  <a:pt x="1633396" y="1478966"/>
                </a:lnTo>
                <a:lnTo>
                  <a:pt x="0" y="14789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958676" y="6166278"/>
            <a:ext cx="1733324" cy="1377205"/>
          </a:xfrm>
          <a:custGeom>
            <a:avLst/>
            <a:gdLst/>
            <a:ahLst/>
            <a:cxnLst/>
            <a:rect r="r" b="b" t="t" l="l"/>
            <a:pathLst>
              <a:path h="1377205" w="1733324">
                <a:moveTo>
                  <a:pt x="0" y="0"/>
                </a:moveTo>
                <a:lnTo>
                  <a:pt x="1733324" y="0"/>
                </a:lnTo>
                <a:lnTo>
                  <a:pt x="1733324" y="1377205"/>
                </a:lnTo>
                <a:lnTo>
                  <a:pt x="0" y="13772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651443" y="2533951"/>
            <a:ext cx="5658345" cy="3530254"/>
          </a:xfrm>
          <a:custGeom>
            <a:avLst/>
            <a:gdLst/>
            <a:ahLst/>
            <a:cxnLst/>
            <a:rect r="r" b="b" t="t" l="l"/>
            <a:pathLst>
              <a:path h="3530254" w="5658345">
                <a:moveTo>
                  <a:pt x="0" y="0"/>
                </a:moveTo>
                <a:lnTo>
                  <a:pt x="5658345" y="0"/>
                </a:lnTo>
                <a:lnTo>
                  <a:pt x="5658345" y="3530254"/>
                </a:lnTo>
                <a:lnTo>
                  <a:pt x="0" y="3530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2161" r="0" b="-23259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407459" y="6211047"/>
            <a:ext cx="2146312" cy="643834"/>
            <a:chOff x="0" y="0"/>
            <a:chExt cx="861151" cy="2583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1151" cy="258321"/>
            </a:xfrm>
            <a:custGeom>
              <a:avLst/>
              <a:gdLst/>
              <a:ahLst/>
              <a:cxnLst/>
              <a:rect r="r" b="b" t="t" l="l"/>
              <a:pathLst>
                <a:path h="258321" w="861151">
                  <a:moveTo>
                    <a:pt x="54106" y="0"/>
                  </a:moveTo>
                  <a:lnTo>
                    <a:pt x="807045" y="0"/>
                  </a:lnTo>
                  <a:cubicBezTo>
                    <a:pt x="836927" y="0"/>
                    <a:pt x="861151" y="24224"/>
                    <a:pt x="861151" y="54106"/>
                  </a:cubicBezTo>
                  <a:lnTo>
                    <a:pt x="861151" y="204215"/>
                  </a:lnTo>
                  <a:cubicBezTo>
                    <a:pt x="861151" y="234097"/>
                    <a:pt x="836927" y="258321"/>
                    <a:pt x="807045" y="258321"/>
                  </a:cubicBezTo>
                  <a:lnTo>
                    <a:pt x="54106" y="258321"/>
                  </a:lnTo>
                  <a:cubicBezTo>
                    <a:pt x="24224" y="258321"/>
                    <a:pt x="0" y="234097"/>
                    <a:pt x="0" y="204215"/>
                  </a:cubicBezTo>
                  <a:lnTo>
                    <a:pt x="0" y="54106"/>
                  </a:lnTo>
                  <a:cubicBezTo>
                    <a:pt x="0" y="24224"/>
                    <a:pt x="24224" y="0"/>
                    <a:pt x="54106" y="0"/>
                  </a:cubicBezTo>
                  <a:close/>
                </a:path>
              </a:pathLst>
            </a:custGeom>
            <a:solidFill>
              <a:srgbClr val="9DD6FF"/>
            </a:solidFill>
            <a:ln w="9525" cap="sq">
              <a:gradFill>
                <a:gsLst>
                  <a:gs pos="0">
                    <a:srgbClr val="A1DAF8">
                      <a:alpha val="100000"/>
                    </a:srgbClr>
                  </a:gs>
                  <a:gs pos="100000">
                    <a:srgbClr val="D4F0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61151" cy="305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sz="2199" spc="48">
                  <a:solidFill>
                    <a:srgbClr val="000000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PHARMA PORTAL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1DAF8">
                <a:alpha val="100000"/>
              </a:srgbClr>
            </a:gs>
            <a:gs pos="100000">
              <a:srgbClr val="D4F0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0454" y="320006"/>
            <a:ext cx="9545950" cy="6723048"/>
            <a:chOff x="0" y="0"/>
            <a:chExt cx="5557619" cy="3914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57620" cy="3914134"/>
            </a:xfrm>
            <a:custGeom>
              <a:avLst/>
              <a:gdLst/>
              <a:ahLst/>
              <a:cxnLst/>
              <a:rect r="r" b="b" t="t" l="l"/>
              <a:pathLst>
                <a:path h="3914134" w="5557620">
                  <a:moveTo>
                    <a:pt x="53932" y="3346126"/>
                  </a:moveTo>
                  <a:cubicBezTo>
                    <a:pt x="53932" y="3346126"/>
                    <a:pt x="-9098" y="3099562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4669778" y="456"/>
                  </a:cubicBezTo>
                  <a:cubicBezTo>
                    <a:pt x="4886527" y="10310"/>
                    <a:pt x="5090842" y="29972"/>
                    <a:pt x="5225030" y="95181"/>
                  </a:cubicBezTo>
                  <a:cubicBezTo>
                    <a:pt x="5481076" y="219611"/>
                    <a:pt x="5562851" y="452651"/>
                    <a:pt x="5557363" y="698175"/>
                  </a:cubicBezTo>
                  <a:cubicBezTo>
                    <a:pt x="5557363" y="698175"/>
                    <a:pt x="5514075" y="1006564"/>
                    <a:pt x="5521509" y="1242098"/>
                  </a:cubicBezTo>
                  <a:cubicBezTo>
                    <a:pt x="5528632" y="3087928"/>
                    <a:pt x="5535789" y="3283531"/>
                    <a:pt x="5535789" y="3283531"/>
                  </a:cubicBezTo>
                  <a:cubicBezTo>
                    <a:pt x="5519107" y="3499263"/>
                    <a:pt x="5404463" y="3709875"/>
                    <a:pt x="5207594" y="3821499"/>
                  </a:cubicBezTo>
                  <a:cubicBezTo>
                    <a:pt x="5057242" y="3906748"/>
                    <a:pt x="4859212" y="3921845"/>
                    <a:pt x="3855973" y="3911104"/>
                  </a:cubicBezTo>
                  <a:cubicBezTo>
                    <a:pt x="636854" y="3905827"/>
                    <a:pt x="375506" y="3939680"/>
                    <a:pt x="245180" y="3830522"/>
                  </a:cubicBezTo>
                  <a:cubicBezTo>
                    <a:pt x="136669" y="3739637"/>
                    <a:pt x="72697" y="3546325"/>
                    <a:pt x="53932" y="33461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20984" y="-130467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7" y="0"/>
                </a:lnTo>
                <a:lnTo>
                  <a:pt x="1839837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54789" y="-351715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8" y="0"/>
                </a:lnTo>
                <a:lnTo>
                  <a:pt x="1839838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102" y="849709"/>
            <a:ext cx="7310198" cy="672349"/>
            <a:chOff x="0" y="0"/>
            <a:chExt cx="2933024" cy="2697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33024" cy="269762"/>
            </a:xfrm>
            <a:custGeom>
              <a:avLst/>
              <a:gdLst/>
              <a:ahLst/>
              <a:cxnLst/>
              <a:rect r="r" b="b" t="t" l="l"/>
              <a:pathLst>
                <a:path h="269762" w="2933024">
                  <a:moveTo>
                    <a:pt x="15886" y="0"/>
                  </a:moveTo>
                  <a:lnTo>
                    <a:pt x="2917138" y="0"/>
                  </a:lnTo>
                  <a:cubicBezTo>
                    <a:pt x="2925912" y="0"/>
                    <a:pt x="2933024" y="7112"/>
                    <a:pt x="2933024" y="15886"/>
                  </a:cubicBezTo>
                  <a:lnTo>
                    <a:pt x="2933024" y="253876"/>
                  </a:lnTo>
                  <a:cubicBezTo>
                    <a:pt x="2933024" y="262650"/>
                    <a:pt x="2925912" y="269762"/>
                    <a:pt x="2917138" y="269762"/>
                  </a:cubicBezTo>
                  <a:lnTo>
                    <a:pt x="15886" y="269762"/>
                  </a:lnTo>
                  <a:cubicBezTo>
                    <a:pt x="11673" y="269762"/>
                    <a:pt x="7632" y="268089"/>
                    <a:pt x="4653" y="265109"/>
                  </a:cubicBezTo>
                  <a:cubicBezTo>
                    <a:pt x="1674" y="262130"/>
                    <a:pt x="0" y="258090"/>
                    <a:pt x="0" y="253876"/>
                  </a:cubicBezTo>
                  <a:lnTo>
                    <a:pt x="0" y="15886"/>
                  </a:lnTo>
                  <a:cubicBezTo>
                    <a:pt x="0" y="7112"/>
                    <a:pt x="7112" y="0"/>
                    <a:pt x="158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933024" cy="336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39"/>
                </a:lnSpc>
              </a:pPr>
              <a:r>
                <a:rPr lang="en-US" sz="3099" spc="68">
                  <a:solidFill>
                    <a:srgbClr val="0F1519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PROJECT IMHOTEP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563094" y="219794"/>
            <a:ext cx="1634214" cy="629915"/>
          </a:xfrm>
          <a:custGeom>
            <a:avLst/>
            <a:gdLst/>
            <a:ahLst/>
            <a:cxnLst/>
            <a:rect r="r" b="b" t="t" l="l"/>
            <a:pathLst>
              <a:path h="629915" w="1634214">
                <a:moveTo>
                  <a:pt x="0" y="0"/>
                </a:moveTo>
                <a:lnTo>
                  <a:pt x="1634215" y="0"/>
                </a:lnTo>
                <a:lnTo>
                  <a:pt x="1634215" y="629915"/>
                </a:lnTo>
                <a:lnTo>
                  <a:pt x="0" y="629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569800" y="1549552"/>
            <a:ext cx="5552399" cy="502301"/>
            <a:chOff x="0" y="0"/>
            <a:chExt cx="2227754" cy="2015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27754" cy="201535"/>
            </a:xfrm>
            <a:custGeom>
              <a:avLst/>
              <a:gdLst/>
              <a:ahLst/>
              <a:cxnLst/>
              <a:rect r="r" b="b" t="t" l="l"/>
              <a:pathLst>
                <a:path h="201535" w="2227754">
                  <a:moveTo>
                    <a:pt x="20915" y="0"/>
                  </a:moveTo>
                  <a:lnTo>
                    <a:pt x="2206839" y="0"/>
                  </a:lnTo>
                  <a:cubicBezTo>
                    <a:pt x="2212386" y="0"/>
                    <a:pt x="2217706" y="2204"/>
                    <a:pt x="2221628" y="6126"/>
                  </a:cubicBezTo>
                  <a:cubicBezTo>
                    <a:pt x="2225550" y="10048"/>
                    <a:pt x="2227754" y="15368"/>
                    <a:pt x="2227754" y="20915"/>
                  </a:cubicBezTo>
                  <a:lnTo>
                    <a:pt x="2227754" y="180620"/>
                  </a:lnTo>
                  <a:cubicBezTo>
                    <a:pt x="2227754" y="186167"/>
                    <a:pt x="2225550" y="191487"/>
                    <a:pt x="2221628" y="195409"/>
                  </a:cubicBezTo>
                  <a:cubicBezTo>
                    <a:pt x="2217706" y="199331"/>
                    <a:pt x="2212386" y="201535"/>
                    <a:pt x="2206839" y="201535"/>
                  </a:cubicBezTo>
                  <a:lnTo>
                    <a:pt x="20915" y="201535"/>
                  </a:lnTo>
                  <a:cubicBezTo>
                    <a:pt x="15368" y="201535"/>
                    <a:pt x="10048" y="199331"/>
                    <a:pt x="6126" y="195409"/>
                  </a:cubicBezTo>
                  <a:cubicBezTo>
                    <a:pt x="2204" y="191487"/>
                    <a:pt x="0" y="186167"/>
                    <a:pt x="0" y="180620"/>
                  </a:cubicBezTo>
                  <a:lnTo>
                    <a:pt x="0" y="20915"/>
                  </a:lnTo>
                  <a:cubicBezTo>
                    <a:pt x="0" y="15368"/>
                    <a:pt x="2204" y="10048"/>
                    <a:pt x="6126" y="6126"/>
                  </a:cubicBezTo>
                  <a:cubicBezTo>
                    <a:pt x="10048" y="2204"/>
                    <a:pt x="15368" y="0"/>
                    <a:pt x="209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227754" cy="249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00454" y="6243909"/>
            <a:ext cx="1453514" cy="1316091"/>
          </a:xfrm>
          <a:custGeom>
            <a:avLst/>
            <a:gdLst/>
            <a:ahLst/>
            <a:cxnLst/>
            <a:rect r="r" b="b" t="t" l="l"/>
            <a:pathLst>
              <a:path h="1316091" w="1453514">
                <a:moveTo>
                  <a:pt x="0" y="0"/>
                </a:moveTo>
                <a:lnTo>
                  <a:pt x="1453515" y="0"/>
                </a:lnTo>
                <a:lnTo>
                  <a:pt x="1453515" y="1316091"/>
                </a:lnTo>
                <a:lnTo>
                  <a:pt x="0" y="13160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958676" y="6127118"/>
            <a:ext cx="1733324" cy="1377205"/>
          </a:xfrm>
          <a:custGeom>
            <a:avLst/>
            <a:gdLst/>
            <a:ahLst/>
            <a:cxnLst/>
            <a:rect r="r" b="b" t="t" l="l"/>
            <a:pathLst>
              <a:path h="1377205" w="1733324">
                <a:moveTo>
                  <a:pt x="0" y="0"/>
                </a:moveTo>
                <a:lnTo>
                  <a:pt x="1733324" y="0"/>
                </a:lnTo>
                <a:lnTo>
                  <a:pt x="1733324" y="1377205"/>
                </a:lnTo>
                <a:lnTo>
                  <a:pt x="0" y="13772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5" id="15">
            <a:hlinkClick action="ppaction://media"/>
          </p:cNvPr>
          <p:cNvPicPr>
            <a:picLocks noChangeAspect="true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0"/>
          <a:srcRect l="0" t="8383" r="0" b="5838"/>
          <a:stretch>
            <a:fillRect/>
          </a:stretch>
        </p:blipFill>
        <p:spPr>
          <a:xfrm flipH="false" flipV="false" rot="0">
            <a:off x="526094" y="2101173"/>
            <a:ext cx="9031498" cy="4142736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520223" y="-275037"/>
            <a:ext cx="3325388" cy="2861796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2347756" y="1585754"/>
            <a:ext cx="5774444" cy="382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 spc="4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Database schema diagram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1DAF8">
                <a:alpha val="100000"/>
              </a:srgbClr>
            </a:gs>
            <a:gs pos="100000">
              <a:srgbClr val="D4F0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3025" y="630482"/>
            <a:ext cx="9545950" cy="6723048"/>
            <a:chOff x="0" y="0"/>
            <a:chExt cx="5557619" cy="3914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57620" cy="3914134"/>
            </a:xfrm>
            <a:custGeom>
              <a:avLst/>
              <a:gdLst/>
              <a:ahLst/>
              <a:cxnLst/>
              <a:rect r="r" b="b" t="t" l="l"/>
              <a:pathLst>
                <a:path h="3914134" w="5557620">
                  <a:moveTo>
                    <a:pt x="53932" y="3346126"/>
                  </a:moveTo>
                  <a:cubicBezTo>
                    <a:pt x="53932" y="3346126"/>
                    <a:pt x="-9098" y="3099562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4669778" y="456"/>
                  </a:cubicBezTo>
                  <a:cubicBezTo>
                    <a:pt x="4886527" y="10310"/>
                    <a:pt x="5090842" y="29972"/>
                    <a:pt x="5225030" y="95181"/>
                  </a:cubicBezTo>
                  <a:cubicBezTo>
                    <a:pt x="5481076" y="219611"/>
                    <a:pt x="5562851" y="452651"/>
                    <a:pt x="5557363" y="698175"/>
                  </a:cubicBezTo>
                  <a:cubicBezTo>
                    <a:pt x="5557363" y="698175"/>
                    <a:pt x="5514075" y="1006564"/>
                    <a:pt x="5521509" y="1242098"/>
                  </a:cubicBezTo>
                  <a:cubicBezTo>
                    <a:pt x="5528632" y="3087928"/>
                    <a:pt x="5535789" y="3283531"/>
                    <a:pt x="5535789" y="3283531"/>
                  </a:cubicBezTo>
                  <a:cubicBezTo>
                    <a:pt x="5519107" y="3499263"/>
                    <a:pt x="5404463" y="3709875"/>
                    <a:pt x="5207594" y="3821499"/>
                  </a:cubicBezTo>
                  <a:cubicBezTo>
                    <a:pt x="5057242" y="3906748"/>
                    <a:pt x="4859212" y="3921845"/>
                    <a:pt x="3855973" y="3911104"/>
                  </a:cubicBezTo>
                  <a:cubicBezTo>
                    <a:pt x="636854" y="3905827"/>
                    <a:pt x="375506" y="3939680"/>
                    <a:pt x="245180" y="3830522"/>
                  </a:cubicBezTo>
                  <a:cubicBezTo>
                    <a:pt x="136669" y="3739637"/>
                    <a:pt x="72697" y="3546325"/>
                    <a:pt x="53932" y="33461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20984" y="-36758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7" y="0"/>
                </a:lnTo>
                <a:lnTo>
                  <a:pt x="1839837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54789" y="-351715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8" y="0"/>
                </a:lnTo>
                <a:lnTo>
                  <a:pt x="1839838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72140" y="1085044"/>
            <a:ext cx="7310198" cy="672349"/>
            <a:chOff x="0" y="0"/>
            <a:chExt cx="2933024" cy="2697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33024" cy="269762"/>
            </a:xfrm>
            <a:custGeom>
              <a:avLst/>
              <a:gdLst/>
              <a:ahLst/>
              <a:cxnLst/>
              <a:rect r="r" b="b" t="t" l="l"/>
              <a:pathLst>
                <a:path h="269762" w="2933024">
                  <a:moveTo>
                    <a:pt x="15886" y="0"/>
                  </a:moveTo>
                  <a:lnTo>
                    <a:pt x="2917138" y="0"/>
                  </a:lnTo>
                  <a:cubicBezTo>
                    <a:pt x="2925912" y="0"/>
                    <a:pt x="2933024" y="7112"/>
                    <a:pt x="2933024" y="15886"/>
                  </a:cubicBezTo>
                  <a:lnTo>
                    <a:pt x="2933024" y="253876"/>
                  </a:lnTo>
                  <a:cubicBezTo>
                    <a:pt x="2933024" y="262650"/>
                    <a:pt x="2925912" y="269762"/>
                    <a:pt x="2917138" y="269762"/>
                  </a:cubicBezTo>
                  <a:lnTo>
                    <a:pt x="15886" y="269762"/>
                  </a:lnTo>
                  <a:cubicBezTo>
                    <a:pt x="11673" y="269762"/>
                    <a:pt x="7632" y="268089"/>
                    <a:pt x="4653" y="265109"/>
                  </a:cubicBezTo>
                  <a:cubicBezTo>
                    <a:pt x="1674" y="262130"/>
                    <a:pt x="0" y="258090"/>
                    <a:pt x="0" y="253876"/>
                  </a:cubicBezTo>
                  <a:lnTo>
                    <a:pt x="0" y="15886"/>
                  </a:lnTo>
                  <a:cubicBezTo>
                    <a:pt x="0" y="7112"/>
                    <a:pt x="7112" y="0"/>
                    <a:pt x="158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933024" cy="336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39"/>
                </a:lnSpc>
              </a:pPr>
              <a:r>
                <a:rPr lang="en-US" sz="3099" spc="68">
                  <a:solidFill>
                    <a:srgbClr val="0F1519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PROJECT IMHOTEP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563094" y="219794"/>
            <a:ext cx="1634214" cy="629915"/>
          </a:xfrm>
          <a:custGeom>
            <a:avLst/>
            <a:gdLst/>
            <a:ahLst/>
            <a:cxnLst/>
            <a:rect r="r" b="b" t="t" l="l"/>
            <a:pathLst>
              <a:path h="629915" w="1634214">
                <a:moveTo>
                  <a:pt x="0" y="0"/>
                </a:moveTo>
                <a:lnTo>
                  <a:pt x="1634215" y="0"/>
                </a:lnTo>
                <a:lnTo>
                  <a:pt x="1634215" y="629915"/>
                </a:lnTo>
                <a:lnTo>
                  <a:pt x="0" y="629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98935" y="6081034"/>
            <a:ext cx="1633396" cy="1478966"/>
          </a:xfrm>
          <a:custGeom>
            <a:avLst/>
            <a:gdLst/>
            <a:ahLst/>
            <a:cxnLst/>
            <a:rect r="r" b="b" t="t" l="l"/>
            <a:pathLst>
              <a:path h="1478966" w="1633396">
                <a:moveTo>
                  <a:pt x="0" y="0"/>
                </a:moveTo>
                <a:lnTo>
                  <a:pt x="1633396" y="0"/>
                </a:lnTo>
                <a:lnTo>
                  <a:pt x="1633396" y="1478966"/>
                </a:lnTo>
                <a:lnTo>
                  <a:pt x="0" y="14789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958676" y="6150829"/>
            <a:ext cx="1733324" cy="1377205"/>
          </a:xfrm>
          <a:custGeom>
            <a:avLst/>
            <a:gdLst/>
            <a:ahLst/>
            <a:cxnLst/>
            <a:rect r="r" b="b" t="t" l="l"/>
            <a:pathLst>
              <a:path h="1377205" w="1733324">
                <a:moveTo>
                  <a:pt x="0" y="0"/>
                </a:moveTo>
                <a:lnTo>
                  <a:pt x="1733324" y="0"/>
                </a:lnTo>
                <a:lnTo>
                  <a:pt x="1733324" y="1377205"/>
                </a:lnTo>
                <a:lnTo>
                  <a:pt x="0" y="13772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72140" y="2074975"/>
            <a:ext cx="3947787" cy="618610"/>
            <a:chOff x="0" y="0"/>
            <a:chExt cx="1583946" cy="2482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83946" cy="248201"/>
            </a:xfrm>
            <a:custGeom>
              <a:avLst/>
              <a:gdLst/>
              <a:ahLst/>
              <a:cxnLst/>
              <a:rect r="r" b="b" t="t" l="l"/>
              <a:pathLst>
                <a:path h="248201" w="1583946">
                  <a:moveTo>
                    <a:pt x="29416" y="0"/>
                  </a:moveTo>
                  <a:lnTo>
                    <a:pt x="1554529" y="0"/>
                  </a:lnTo>
                  <a:cubicBezTo>
                    <a:pt x="1570776" y="0"/>
                    <a:pt x="1583946" y="13170"/>
                    <a:pt x="1583946" y="29416"/>
                  </a:cubicBezTo>
                  <a:lnTo>
                    <a:pt x="1583946" y="218785"/>
                  </a:lnTo>
                  <a:cubicBezTo>
                    <a:pt x="1583946" y="235031"/>
                    <a:pt x="1570776" y="248201"/>
                    <a:pt x="1554529" y="248201"/>
                  </a:cubicBezTo>
                  <a:lnTo>
                    <a:pt x="29416" y="248201"/>
                  </a:lnTo>
                  <a:cubicBezTo>
                    <a:pt x="13170" y="248201"/>
                    <a:pt x="0" y="235031"/>
                    <a:pt x="0" y="218785"/>
                  </a:cubicBezTo>
                  <a:lnTo>
                    <a:pt x="0" y="29416"/>
                  </a:lnTo>
                  <a:cubicBezTo>
                    <a:pt x="0" y="13170"/>
                    <a:pt x="13170" y="0"/>
                    <a:pt x="29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583946" cy="2958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b="true" sz="2199" spc="48">
                  <a:solidFill>
                    <a:srgbClr val="0F1519"/>
                  </a:solidFill>
                  <a:latin typeface="Londrina Solid Heavy"/>
                  <a:ea typeface="Londrina Solid Heavy"/>
                  <a:cs typeface="Londrina Solid Heavy"/>
                  <a:sym typeface="Londrina Solid Heavy"/>
                </a:rPr>
                <a:t>Tools &amp; Technologies Used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41628" y="2892044"/>
            <a:ext cx="3804372" cy="2960785"/>
            <a:chOff x="0" y="0"/>
            <a:chExt cx="1363401" cy="10610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63401" cy="1061078"/>
            </a:xfrm>
            <a:custGeom>
              <a:avLst/>
              <a:gdLst/>
              <a:ahLst/>
              <a:cxnLst/>
              <a:rect r="r" b="b" t="t" l="l"/>
              <a:pathLst>
                <a:path h="1061078" w="1363401">
                  <a:moveTo>
                    <a:pt x="75295" y="0"/>
                  </a:moveTo>
                  <a:lnTo>
                    <a:pt x="1288106" y="0"/>
                  </a:lnTo>
                  <a:cubicBezTo>
                    <a:pt x="1329690" y="0"/>
                    <a:pt x="1363401" y="33711"/>
                    <a:pt x="1363401" y="75295"/>
                  </a:cubicBezTo>
                  <a:lnTo>
                    <a:pt x="1363401" y="985783"/>
                  </a:lnTo>
                  <a:cubicBezTo>
                    <a:pt x="1363401" y="1005753"/>
                    <a:pt x="1355468" y="1024904"/>
                    <a:pt x="1341347" y="1039025"/>
                  </a:cubicBezTo>
                  <a:cubicBezTo>
                    <a:pt x="1327227" y="1053146"/>
                    <a:pt x="1308075" y="1061078"/>
                    <a:pt x="1288106" y="1061078"/>
                  </a:cubicBezTo>
                  <a:lnTo>
                    <a:pt x="75295" y="1061078"/>
                  </a:lnTo>
                  <a:cubicBezTo>
                    <a:pt x="55326" y="1061078"/>
                    <a:pt x="36174" y="1053146"/>
                    <a:pt x="22053" y="1039025"/>
                  </a:cubicBezTo>
                  <a:cubicBezTo>
                    <a:pt x="7933" y="1024904"/>
                    <a:pt x="0" y="1005753"/>
                    <a:pt x="0" y="985783"/>
                  </a:cubicBezTo>
                  <a:lnTo>
                    <a:pt x="0" y="75295"/>
                  </a:lnTo>
                  <a:cubicBezTo>
                    <a:pt x="0" y="55326"/>
                    <a:pt x="7933" y="36174"/>
                    <a:pt x="22053" y="22053"/>
                  </a:cubicBezTo>
                  <a:cubicBezTo>
                    <a:pt x="36174" y="7933"/>
                    <a:pt x="55326" y="0"/>
                    <a:pt x="752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363401" cy="1089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367031" indent="-183515" lvl="1">
                <a:lnSpc>
                  <a:spcPts val="2380"/>
                </a:lnSpc>
                <a:buFont typeface="Arial"/>
                <a:buChar char="•"/>
              </a:pPr>
              <a:r>
                <a:rPr lang="en-US" b="true" sz="1700" spc="37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Programming: Python</a:t>
              </a:r>
            </a:p>
            <a:p>
              <a:pPr algn="l" marL="367031" indent="-183515" lvl="1">
                <a:lnSpc>
                  <a:spcPts val="2380"/>
                </a:lnSpc>
                <a:buFont typeface="Arial"/>
                <a:buChar char="•"/>
              </a:pPr>
              <a:r>
                <a:rPr lang="en-US" b="true" sz="1700" spc="37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Framework: PyQt5</a:t>
              </a:r>
            </a:p>
            <a:p>
              <a:pPr algn="l" marL="367031" indent="-183515" lvl="1">
                <a:lnSpc>
                  <a:spcPts val="2380"/>
                </a:lnSpc>
                <a:buFont typeface="Arial"/>
                <a:buChar char="•"/>
              </a:pPr>
              <a:r>
                <a:rPr lang="en-US" b="true" sz="1700" spc="37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Database: MySQL</a:t>
              </a:r>
            </a:p>
            <a:p>
              <a:pPr algn="l" marL="367031" indent="-183515" lvl="1">
                <a:lnSpc>
                  <a:spcPts val="2380"/>
                </a:lnSpc>
                <a:buFont typeface="Arial"/>
                <a:buChar char="•"/>
              </a:pPr>
              <a:r>
                <a:rPr lang="en-US" b="true" sz="1700" spc="37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IDE: VS Code</a:t>
              </a:r>
            </a:p>
            <a:p>
              <a:pPr algn="l" marL="367031" indent="-183515" lvl="1">
                <a:lnSpc>
                  <a:spcPts val="2380"/>
                </a:lnSpc>
                <a:buFont typeface="Arial"/>
                <a:buChar char="•"/>
              </a:pPr>
              <a:r>
                <a:rPr lang="en-US" b="true" sz="1700" spc="37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Connector: MySQL Connector for Python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053945" y="2011452"/>
            <a:ext cx="3429176" cy="677370"/>
            <a:chOff x="0" y="0"/>
            <a:chExt cx="1375866" cy="27177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75866" cy="271777"/>
            </a:xfrm>
            <a:custGeom>
              <a:avLst/>
              <a:gdLst/>
              <a:ahLst/>
              <a:cxnLst/>
              <a:rect r="r" b="b" t="t" l="l"/>
              <a:pathLst>
                <a:path h="271777" w="1375866">
                  <a:moveTo>
                    <a:pt x="33865" y="0"/>
                  </a:moveTo>
                  <a:lnTo>
                    <a:pt x="1342001" y="0"/>
                  </a:lnTo>
                  <a:cubicBezTo>
                    <a:pt x="1350983" y="0"/>
                    <a:pt x="1359596" y="3568"/>
                    <a:pt x="1365947" y="9919"/>
                  </a:cubicBezTo>
                  <a:cubicBezTo>
                    <a:pt x="1372298" y="16270"/>
                    <a:pt x="1375866" y="24883"/>
                    <a:pt x="1375866" y="33865"/>
                  </a:cubicBezTo>
                  <a:lnTo>
                    <a:pt x="1375866" y="237912"/>
                  </a:lnTo>
                  <a:cubicBezTo>
                    <a:pt x="1375866" y="246894"/>
                    <a:pt x="1372298" y="255507"/>
                    <a:pt x="1365947" y="261858"/>
                  </a:cubicBezTo>
                  <a:cubicBezTo>
                    <a:pt x="1359596" y="268209"/>
                    <a:pt x="1350983" y="271777"/>
                    <a:pt x="1342001" y="271777"/>
                  </a:cubicBezTo>
                  <a:lnTo>
                    <a:pt x="33865" y="271777"/>
                  </a:lnTo>
                  <a:cubicBezTo>
                    <a:pt x="24883" y="271777"/>
                    <a:pt x="16270" y="268209"/>
                    <a:pt x="9919" y="261858"/>
                  </a:cubicBezTo>
                  <a:cubicBezTo>
                    <a:pt x="3568" y="255507"/>
                    <a:pt x="0" y="246894"/>
                    <a:pt x="0" y="237912"/>
                  </a:cubicBezTo>
                  <a:lnTo>
                    <a:pt x="0" y="33865"/>
                  </a:lnTo>
                  <a:cubicBezTo>
                    <a:pt x="0" y="24883"/>
                    <a:pt x="3568" y="16270"/>
                    <a:pt x="9919" y="9919"/>
                  </a:cubicBezTo>
                  <a:cubicBezTo>
                    <a:pt x="16270" y="3568"/>
                    <a:pt x="24883" y="0"/>
                    <a:pt x="338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375866" cy="319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519928" y="2852164"/>
            <a:ext cx="4416072" cy="3122600"/>
            <a:chOff x="0" y="0"/>
            <a:chExt cx="1582621" cy="11190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82621" cy="1119069"/>
            </a:xfrm>
            <a:custGeom>
              <a:avLst/>
              <a:gdLst/>
              <a:ahLst/>
              <a:cxnLst/>
              <a:rect r="r" b="b" t="t" l="l"/>
              <a:pathLst>
                <a:path h="1119069" w="1582621">
                  <a:moveTo>
                    <a:pt x="64866" y="0"/>
                  </a:moveTo>
                  <a:lnTo>
                    <a:pt x="1517755" y="0"/>
                  </a:lnTo>
                  <a:cubicBezTo>
                    <a:pt x="1534959" y="0"/>
                    <a:pt x="1551457" y="6834"/>
                    <a:pt x="1563622" y="18999"/>
                  </a:cubicBezTo>
                  <a:cubicBezTo>
                    <a:pt x="1575787" y="31163"/>
                    <a:pt x="1582621" y="47662"/>
                    <a:pt x="1582621" y="64866"/>
                  </a:cubicBezTo>
                  <a:lnTo>
                    <a:pt x="1582621" y="1054204"/>
                  </a:lnTo>
                  <a:cubicBezTo>
                    <a:pt x="1582621" y="1071407"/>
                    <a:pt x="1575787" y="1087906"/>
                    <a:pt x="1563622" y="1100071"/>
                  </a:cubicBezTo>
                  <a:cubicBezTo>
                    <a:pt x="1551457" y="1112235"/>
                    <a:pt x="1534959" y="1119069"/>
                    <a:pt x="1517755" y="1119069"/>
                  </a:cubicBezTo>
                  <a:lnTo>
                    <a:pt x="64866" y="1119069"/>
                  </a:lnTo>
                  <a:cubicBezTo>
                    <a:pt x="29041" y="1119069"/>
                    <a:pt x="0" y="1090028"/>
                    <a:pt x="0" y="1054204"/>
                  </a:cubicBezTo>
                  <a:lnTo>
                    <a:pt x="0" y="64866"/>
                  </a:lnTo>
                  <a:cubicBezTo>
                    <a:pt x="0" y="47662"/>
                    <a:pt x="6834" y="31163"/>
                    <a:pt x="18999" y="18999"/>
                  </a:cubicBezTo>
                  <a:cubicBezTo>
                    <a:pt x="31163" y="6834"/>
                    <a:pt x="47662" y="0"/>
                    <a:pt x="648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582621" cy="1147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80"/>
                </a:lnSpc>
              </a:pPr>
            </a:p>
          </p:txBody>
        </p:sp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185376" y="5127562"/>
            <a:ext cx="1953901" cy="2428328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6197309" y="1963827"/>
            <a:ext cx="3047372" cy="72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6"/>
              </a:lnSpc>
              <a:spcBef>
                <a:spcPct val="0"/>
              </a:spcBef>
            </a:pPr>
            <a:r>
              <a:rPr lang="en-US" sz="2054" spc="45">
                <a:solidFill>
                  <a:srgbClr val="000000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description of </a:t>
            </a:r>
          </a:p>
          <a:p>
            <a:pPr algn="ctr">
              <a:lnSpc>
                <a:spcPts val="2876"/>
              </a:lnSpc>
              <a:spcBef>
                <a:spcPct val="0"/>
              </a:spcBef>
            </a:pPr>
            <a:r>
              <a:rPr lang="en-US" sz="2054" spc="45">
                <a:solidFill>
                  <a:srgbClr val="000000"/>
                </a:solidFill>
                <a:latin typeface="Londrina Solid"/>
                <a:ea typeface="Londrina Solid"/>
                <a:cs typeface="Londrina Solid"/>
                <a:sym typeface="Londrina Solid"/>
              </a:rPr>
              <a:t>3 portals features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17358" y="2889076"/>
            <a:ext cx="3804372" cy="293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  <a:spcBef>
                <a:spcPct val="0"/>
              </a:spcBef>
            </a:pPr>
            <a:r>
              <a:rPr lang="en-US" b="true" sz="1699" spc="3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Doctor Portal: Add diagnosis, issue prescriptions, view patient history</a:t>
            </a:r>
          </a:p>
          <a:p>
            <a:pPr algn="l">
              <a:lnSpc>
                <a:spcPts val="2379"/>
              </a:lnSpc>
              <a:spcBef>
                <a:spcPct val="0"/>
              </a:spcBef>
            </a:pPr>
          </a:p>
          <a:p>
            <a:pPr algn="l">
              <a:lnSpc>
                <a:spcPts val="2379"/>
              </a:lnSpc>
              <a:spcBef>
                <a:spcPct val="0"/>
              </a:spcBef>
            </a:pPr>
            <a:r>
              <a:rPr lang="en-US" b="true" sz="1699" spc="3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Patient Portal: View reports, prescriptions, and request appointments</a:t>
            </a:r>
          </a:p>
          <a:p>
            <a:pPr algn="l">
              <a:lnSpc>
                <a:spcPts val="2379"/>
              </a:lnSpc>
              <a:spcBef>
                <a:spcPct val="0"/>
              </a:spcBef>
            </a:pPr>
          </a:p>
          <a:p>
            <a:pPr algn="l">
              <a:lnSpc>
                <a:spcPts val="2379"/>
              </a:lnSpc>
              <a:spcBef>
                <a:spcPct val="0"/>
              </a:spcBef>
            </a:pPr>
            <a:r>
              <a:rPr lang="en-US" b="true" sz="1699" spc="3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Pharmacist Portal: Verify prescriptions and manage medicine distribution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1DAF8">
                <a:alpha val="100000"/>
              </a:srgbClr>
            </a:gs>
            <a:gs pos="100000">
              <a:srgbClr val="D4F0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7226" y="534752"/>
            <a:ext cx="9545950" cy="6723048"/>
            <a:chOff x="0" y="0"/>
            <a:chExt cx="5557619" cy="3914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57620" cy="3914134"/>
            </a:xfrm>
            <a:custGeom>
              <a:avLst/>
              <a:gdLst/>
              <a:ahLst/>
              <a:cxnLst/>
              <a:rect r="r" b="b" t="t" l="l"/>
              <a:pathLst>
                <a:path h="3914134" w="5557620">
                  <a:moveTo>
                    <a:pt x="53932" y="3346126"/>
                  </a:moveTo>
                  <a:cubicBezTo>
                    <a:pt x="53932" y="3346126"/>
                    <a:pt x="-9098" y="3099562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4669778" y="456"/>
                  </a:cubicBezTo>
                  <a:cubicBezTo>
                    <a:pt x="4886527" y="10310"/>
                    <a:pt x="5090842" y="29972"/>
                    <a:pt x="5225030" y="95181"/>
                  </a:cubicBezTo>
                  <a:cubicBezTo>
                    <a:pt x="5481076" y="219611"/>
                    <a:pt x="5562851" y="452651"/>
                    <a:pt x="5557363" y="698175"/>
                  </a:cubicBezTo>
                  <a:cubicBezTo>
                    <a:pt x="5557363" y="698175"/>
                    <a:pt x="5514075" y="1006564"/>
                    <a:pt x="5521509" y="1242098"/>
                  </a:cubicBezTo>
                  <a:cubicBezTo>
                    <a:pt x="5528632" y="3087928"/>
                    <a:pt x="5535789" y="3283531"/>
                    <a:pt x="5535789" y="3283531"/>
                  </a:cubicBezTo>
                  <a:cubicBezTo>
                    <a:pt x="5519107" y="3499263"/>
                    <a:pt x="5404463" y="3709875"/>
                    <a:pt x="5207594" y="3821499"/>
                  </a:cubicBezTo>
                  <a:cubicBezTo>
                    <a:pt x="5057242" y="3906748"/>
                    <a:pt x="4859212" y="3921845"/>
                    <a:pt x="3855973" y="3911104"/>
                  </a:cubicBezTo>
                  <a:cubicBezTo>
                    <a:pt x="636854" y="3905827"/>
                    <a:pt x="375506" y="3939680"/>
                    <a:pt x="245180" y="3830522"/>
                  </a:cubicBezTo>
                  <a:cubicBezTo>
                    <a:pt x="136669" y="3739637"/>
                    <a:pt x="72697" y="3546325"/>
                    <a:pt x="53932" y="33461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20984" y="-130467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7" y="0"/>
                </a:lnTo>
                <a:lnTo>
                  <a:pt x="1839837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54789" y="-351715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8" y="0"/>
                </a:lnTo>
                <a:lnTo>
                  <a:pt x="1839838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825516" y="1085044"/>
            <a:ext cx="7310198" cy="672349"/>
            <a:chOff x="0" y="0"/>
            <a:chExt cx="2933024" cy="2697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33024" cy="269762"/>
            </a:xfrm>
            <a:custGeom>
              <a:avLst/>
              <a:gdLst/>
              <a:ahLst/>
              <a:cxnLst/>
              <a:rect r="r" b="b" t="t" l="l"/>
              <a:pathLst>
                <a:path h="269762" w="2933024">
                  <a:moveTo>
                    <a:pt x="15886" y="0"/>
                  </a:moveTo>
                  <a:lnTo>
                    <a:pt x="2917138" y="0"/>
                  </a:lnTo>
                  <a:cubicBezTo>
                    <a:pt x="2925912" y="0"/>
                    <a:pt x="2933024" y="7112"/>
                    <a:pt x="2933024" y="15886"/>
                  </a:cubicBezTo>
                  <a:lnTo>
                    <a:pt x="2933024" y="253876"/>
                  </a:lnTo>
                  <a:cubicBezTo>
                    <a:pt x="2933024" y="262650"/>
                    <a:pt x="2925912" y="269762"/>
                    <a:pt x="2917138" y="269762"/>
                  </a:cubicBezTo>
                  <a:lnTo>
                    <a:pt x="15886" y="269762"/>
                  </a:lnTo>
                  <a:cubicBezTo>
                    <a:pt x="11673" y="269762"/>
                    <a:pt x="7632" y="268089"/>
                    <a:pt x="4653" y="265109"/>
                  </a:cubicBezTo>
                  <a:cubicBezTo>
                    <a:pt x="1674" y="262130"/>
                    <a:pt x="0" y="258090"/>
                    <a:pt x="0" y="253876"/>
                  </a:cubicBezTo>
                  <a:lnTo>
                    <a:pt x="0" y="15886"/>
                  </a:lnTo>
                  <a:cubicBezTo>
                    <a:pt x="0" y="7112"/>
                    <a:pt x="7112" y="0"/>
                    <a:pt x="158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933024" cy="336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39"/>
                </a:lnSpc>
              </a:pPr>
              <a:r>
                <a:rPr lang="en-US" sz="3099" spc="68">
                  <a:solidFill>
                    <a:srgbClr val="0F1519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PROJECT IMHOTEP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563094" y="219794"/>
            <a:ext cx="1634214" cy="629915"/>
          </a:xfrm>
          <a:custGeom>
            <a:avLst/>
            <a:gdLst/>
            <a:ahLst/>
            <a:cxnLst/>
            <a:rect r="r" b="b" t="t" l="l"/>
            <a:pathLst>
              <a:path h="629915" w="1634214">
                <a:moveTo>
                  <a:pt x="0" y="0"/>
                </a:moveTo>
                <a:lnTo>
                  <a:pt x="1634215" y="0"/>
                </a:lnTo>
                <a:lnTo>
                  <a:pt x="1634215" y="629915"/>
                </a:lnTo>
                <a:lnTo>
                  <a:pt x="0" y="629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825516" y="1838656"/>
            <a:ext cx="3262417" cy="618610"/>
            <a:chOff x="0" y="0"/>
            <a:chExt cx="1308959" cy="2482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8959" cy="248201"/>
            </a:xfrm>
            <a:custGeom>
              <a:avLst/>
              <a:gdLst/>
              <a:ahLst/>
              <a:cxnLst/>
              <a:rect r="r" b="b" t="t" l="l"/>
              <a:pathLst>
                <a:path h="248201" w="1308959">
                  <a:moveTo>
                    <a:pt x="35596" y="0"/>
                  </a:moveTo>
                  <a:lnTo>
                    <a:pt x="1273363" y="0"/>
                  </a:lnTo>
                  <a:cubicBezTo>
                    <a:pt x="1282804" y="0"/>
                    <a:pt x="1291857" y="3750"/>
                    <a:pt x="1298533" y="10426"/>
                  </a:cubicBezTo>
                  <a:cubicBezTo>
                    <a:pt x="1305209" y="17101"/>
                    <a:pt x="1308959" y="26155"/>
                    <a:pt x="1308959" y="35596"/>
                  </a:cubicBezTo>
                  <a:lnTo>
                    <a:pt x="1308959" y="212605"/>
                  </a:lnTo>
                  <a:cubicBezTo>
                    <a:pt x="1308959" y="222046"/>
                    <a:pt x="1305209" y="231099"/>
                    <a:pt x="1298533" y="237775"/>
                  </a:cubicBezTo>
                  <a:cubicBezTo>
                    <a:pt x="1291857" y="244451"/>
                    <a:pt x="1282804" y="248201"/>
                    <a:pt x="1273363" y="248201"/>
                  </a:cubicBezTo>
                  <a:lnTo>
                    <a:pt x="35596" y="248201"/>
                  </a:lnTo>
                  <a:cubicBezTo>
                    <a:pt x="26155" y="248201"/>
                    <a:pt x="17101" y="244451"/>
                    <a:pt x="10426" y="237775"/>
                  </a:cubicBezTo>
                  <a:cubicBezTo>
                    <a:pt x="3750" y="231099"/>
                    <a:pt x="0" y="222046"/>
                    <a:pt x="0" y="212605"/>
                  </a:cubicBezTo>
                  <a:lnTo>
                    <a:pt x="0" y="35596"/>
                  </a:lnTo>
                  <a:cubicBezTo>
                    <a:pt x="0" y="26155"/>
                    <a:pt x="3750" y="17101"/>
                    <a:pt x="10426" y="10426"/>
                  </a:cubicBezTo>
                  <a:cubicBezTo>
                    <a:pt x="17101" y="3750"/>
                    <a:pt x="26155" y="0"/>
                    <a:pt x="355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08959" cy="2958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b="true" sz="2199" spc="48">
                  <a:solidFill>
                    <a:srgbClr val="0F1519"/>
                  </a:solidFill>
                  <a:latin typeface="Londrina Solid Heavy"/>
                  <a:ea typeface="Londrina Solid Heavy"/>
                  <a:cs typeface="Londrina Solid Heavy"/>
                  <a:sym typeface="Londrina Solid Heavy"/>
                </a:rPr>
                <a:t>Impact 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98935" y="6064517"/>
            <a:ext cx="1633396" cy="1478966"/>
          </a:xfrm>
          <a:custGeom>
            <a:avLst/>
            <a:gdLst/>
            <a:ahLst/>
            <a:cxnLst/>
            <a:rect r="r" b="b" t="t" l="l"/>
            <a:pathLst>
              <a:path h="1478966" w="1633396">
                <a:moveTo>
                  <a:pt x="0" y="0"/>
                </a:moveTo>
                <a:lnTo>
                  <a:pt x="1633396" y="0"/>
                </a:lnTo>
                <a:lnTo>
                  <a:pt x="1633396" y="1478966"/>
                </a:lnTo>
                <a:lnTo>
                  <a:pt x="0" y="14789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958676" y="6166278"/>
            <a:ext cx="1733324" cy="1377205"/>
          </a:xfrm>
          <a:custGeom>
            <a:avLst/>
            <a:gdLst/>
            <a:ahLst/>
            <a:cxnLst/>
            <a:rect r="r" b="b" t="t" l="l"/>
            <a:pathLst>
              <a:path h="1377205" w="1733324">
                <a:moveTo>
                  <a:pt x="0" y="0"/>
                </a:moveTo>
                <a:lnTo>
                  <a:pt x="1733324" y="0"/>
                </a:lnTo>
                <a:lnTo>
                  <a:pt x="1733324" y="1377205"/>
                </a:lnTo>
                <a:lnTo>
                  <a:pt x="0" y="13772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409351" y="2865990"/>
            <a:ext cx="4094749" cy="3300288"/>
            <a:chOff x="0" y="0"/>
            <a:chExt cx="1467466" cy="11827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7466" cy="1182749"/>
            </a:xfrm>
            <a:custGeom>
              <a:avLst/>
              <a:gdLst/>
              <a:ahLst/>
              <a:cxnLst/>
              <a:rect r="r" b="b" t="t" l="l"/>
              <a:pathLst>
                <a:path h="1182749" w="1467466">
                  <a:moveTo>
                    <a:pt x="69956" y="0"/>
                  </a:moveTo>
                  <a:lnTo>
                    <a:pt x="1397510" y="0"/>
                  </a:lnTo>
                  <a:cubicBezTo>
                    <a:pt x="1416063" y="0"/>
                    <a:pt x="1433857" y="7370"/>
                    <a:pt x="1446976" y="20490"/>
                  </a:cubicBezTo>
                  <a:cubicBezTo>
                    <a:pt x="1460095" y="33609"/>
                    <a:pt x="1467466" y="51402"/>
                    <a:pt x="1467466" y="69956"/>
                  </a:cubicBezTo>
                  <a:lnTo>
                    <a:pt x="1467466" y="1112793"/>
                  </a:lnTo>
                  <a:cubicBezTo>
                    <a:pt x="1467466" y="1131347"/>
                    <a:pt x="1460095" y="1149140"/>
                    <a:pt x="1446976" y="1162259"/>
                  </a:cubicBezTo>
                  <a:cubicBezTo>
                    <a:pt x="1433857" y="1175379"/>
                    <a:pt x="1416063" y="1182749"/>
                    <a:pt x="1397510" y="1182749"/>
                  </a:cubicBezTo>
                  <a:lnTo>
                    <a:pt x="69956" y="1182749"/>
                  </a:lnTo>
                  <a:cubicBezTo>
                    <a:pt x="51402" y="1182749"/>
                    <a:pt x="33609" y="1175379"/>
                    <a:pt x="20490" y="1162259"/>
                  </a:cubicBezTo>
                  <a:cubicBezTo>
                    <a:pt x="7370" y="1149140"/>
                    <a:pt x="0" y="1131347"/>
                    <a:pt x="0" y="1112793"/>
                  </a:cubicBezTo>
                  <a:lnTo>
                    <a:pt x="0" y="69956"/>
                  </a:lnTo>
                  <a:cubicBezTo>
                    <a:pt x="0" y="51402"/>
                    <a:pt x="7370" y="33609"/>
                    <a:pt x="20490" y="20490"/>
                  </a:cubicBezTo>
                  <a:cubicBezTo>
                    <a:pt x="33609" y="7370"/>
                    <a:pt x="51402" y="0"/>
                    <a:pt x="699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467466" cy="121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367031" indent="-183515" lvl="1">
                <a:lnSpc>
                  <a:spcPts val="2380"/>
                </a:lnSpc>
                <a:buFont typeface="Arial"/>
                <a:buChar char="•"/>
              </a:pPr>
              <a:r>
                <a:rPr lang="en-US" b="true" sz="1700" spc="37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Connects doctors, patients, and pharmacists in one system</a:t>
              </a:r>
            </a:p>
            <a:p>
              <a:pPr algn="l" marL="367031" indent="-183515" lvl="1">
                <a:lnSpc>
                  <a:spcPts val="2380"/>
                </a:lnSpc>
                <a:buFont typeface="Arial"/>
                <a:buChar char="•"/>
              </a:pPr>
              <a:r>
                <a:rPr lang="en-US" b="true" sz="1700" spc="37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Reduces errors and paperwork through digital records</a:t>
              </a:r>
            </a:p>
            <a:p>
              <a:pPr algn="l" marL="367031" indent="-183515" lvl="1">
                <a:lnSpc>
                  <a:spcPts val="2380"/>
                </a:lnSpc>
                <a:buFont typeface="Arial"/>
                <a:buChar char="•"/>
              </a:pPr>
              <a:r>
                <a:rPr lang="en-US" b="true" sz="1700" spc="37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Speeds up healthcare decisions with real-time data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841251" y="2865990"/>
            <a:ext cx="4094749" cy="3300288"/>
            <a:chOff x="0" y="0"/>
            <a:chExt cx="1467466" cy="11827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7466" cy="1182749"/>
            </a:xfrm>
            <a:custGeom>
              <a:avLst/>
              <a:gdLst/>
              <a:ahLst/>
              <a:cxnLst/>
              <a:rect r="r" b="b" t="t" l="l"/>
              <a:pathLst>
                <a:path h="1182749" w="1467466">
                  <a:moveTo>
                    <a:pt x="69956" y="0"/>
                  </a:moveTo>
                  <a:lnTo>
                    <a:pt x="1397510" y="0"/>
                  </a:lnTo>
                  <a:cubicBezTo>
                    <a:pt x="1416063" y="0"/>
                    <a:pt x="1433857" y="7370"/>
                    <a:pt x="1446976" y="20490"/>
                  </a:cubicBezTo>
                  <a:cubicBezTo>
                    <a:pt x="1460095" y="33609"/>
                    <a:pt x="1467466" y="51402"/>
                    <a:pt x="1467466" y="69956"/>
                  </a:cubicBezTo>
                  <a:lnTo>
                    <a:pt x="1467466" y="1112793"/>
                  </a:lnTo>
                  <a:cubicBezTo>
                    <a:pt x="1467466" y="1131347"/>
                    <a:pt x="1460095" y="1149140"/>
                    <a:pt x="1446976" y="1162259"/>
                  </a:cubicBezTo>
                  <a:cubicBezTo>
                    <a:pt x="1433857" y="1175379"/>
                    <a:pt x="1416063" y="1182749"/>
                    <a:pt x="1397510" y="1182749"/>
                  </a:cubicBezTo>
                  <a:lnTo>
                    <a:pt x="69956" y="1182749"/>
                  </a:lnTo>
                  <a:cubicBezTo>
                    <a:pt x="51402" y="1182749"/>
                    <a:pt x="33609" y="1175379"/>
                    <a:pt x="20490" y="1162259"/>
                  </a:cubicBezTo>
                  <a:cubicBezTo>
                    <a:pt x="7370" y="1149140"/>
                    <a:pt x="0" y="1131347"/>
                    <a:pt x="0" y="1112793"/>
                  </a:cubicBezTo>
                  <a:lnTo>
                    <a:pt x="0" y="69956"/>
                  </a:lnTo>
                  <a:cubicBezTo>
                    <a:pt x="0" y="51402"/>
                    <a:pt x="7370" y="33609"/>
                    <a:pt x="20490" y="20490"/>
                  </a:cubicBezTo>
                  <a:cubicBezTo>
                    <a:pt x="33609" y="7370"/>
                    <a:pt x="51402" y="0"/>
                    <a:pt x="699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467466" cy="1211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367031" indent="-183515" lvl="1">
                <a:lnSpc>
                  <a:spcPts val="2380"/>
                </a:lnSpc>
                <a:buFont typeface="Arial"/>
                <a:buChar char="•"/>
              </a:pPr>
              <a:r>
                <a:rPr lang="en-US" b="true" sz="1700" spc="37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AI-assisted diagnosis support</a:t>
              </a:r>
            </a:p>
            <a:p>
              <a:pPr algn="l" marL="367031" indent="-183515" lvl="1">
                <a:lnSpc>
                  <a:spcPts val="2380"/>
                </a:lnSpc>
                <a:buFont typeface="Arial"/>
                <a:buChar char="•"/>
              </a:pPr>
              <a:r>
                <a:rPr lang="en-US" b="true" sz="1700" spc="37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Cloud-based data access and backup</a:t>
              </a:r>
            </a:p>
            <a:p>
              <a:pPr algn="l" marL="367031" indent="-183515" lvl="1">
                <a:lnSpc>
                  <a:spcPts val="2380"/>
                </a:lnSpc>
                <a:buFont typeface="Arial"/>
                <a:buChar char="•"/>
              </a:pPr>
              <a:r>
                <a:rPr lang="en-US" b="true" sz="1700" spc="37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Smart analytics and medicine tracking</a:t>
              </a:r>
            </a:p>
            <a:p>
              <a:pPr algn="l" marL="367031" indent="-183515" lvl="1">
                <a:lnSpc>
                  <a:spcPts val="2380"/>
                </a:lnSpc>
                <a:buFont typeface="Arial"/>
                <a:buChar char="•"/>
              </a:pPr>
              <a:r>
                <a:rPr lang="en-US" b="true" sz="1700" spc="37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Integration with wearable health devices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092372" y="1951506"/>
            <a:ext cx="3262417" cy="618610"/>
            <a:chOff x="0" y="0"/>
            <a:chExt cx="1308959" cy="24820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08959" cy="248201"/>
            </a:xfrm>
            <a:custGeom>
              <a:avLst/>
              <a:gdLst/>
              <a:ahLst/>
              <a:cxnLst/>
              <a:rect r="r" b="b" t="t" l="l"/>
              <a:pathLst>
                <a:path h="248201" w="1308959">
                  <a:moveTo>
                    <a:pt x="35596" y="0"/>
                  </a:moveTo>
                  <a:lnTo>
                    <a:pt x="1273363" y="0"/>
                  </a:lnTo>
                  <a:cubicBezTo>
                    <a:pt x="1282804" y="0"/>
                    <a:pt x="1291857" y="3750"/>
                    <a:pt x="1298533" y="10426"/>
                  </a:cubicBezTo>
                  <a:cubicBezTo>
                    <a:pt x="1305209" y="17101"/>
                    <a:pt x="1308959" y="26155"/>
                    <a:pt x="1308959" y="35596"/>
                  </a:cubicBezTo>
                  <a:lnTo>
                    <a:pt x="1308959" y="212605"/>
                  </a:lnTo>
                  <a:cubicBezTo>
                    <a:pt x="1308959" y="222046"/>
                    <a:pt x="1305209" y="231099"/>
                    <a:pt x="1298533" y="237775"/>
                  </a:cubicBezTo>
                  <a:cubicBezTo>
                    <a:pt x="1291857" y="244451"/>
                    <a:pt x="1282804" y="248201"/>
                    <a:pt x="1273363" y="248201"/>
                  </a:cubicBezTo>
                  <a:lnTo>
                    <a:pt x="35596" y="248201"/>
                  </a:lnTo>
                  <a:cubicBezTo>
                    <a:pt x="26155" y="248201"/>
                    <a:pt x="17101" y="244451"/>
                    <a:pt x="10426" y="237775"/>
                  </a:cubicBezTo>
                  <a:cubicBezTo>
                    <a:pt x="3750" y="231099"/>
                    <a:pt x="0" y="222046"/>
                    <a:pt x="0" y="212605"/>
                  </a:cubicBezTo>
                  <a:lnTo>
                    <a:pt x="0" y="35596"/>
                  </a:lnTo>
                  <a:cubicBezTo>
                    <a:pt x="0" y="26155"/>
                    <a:pt x="3750" y="17101"/>
                    <a:pt x="10426" y="10426"/>
                  </a:cubicBezTo>
                  <a:cubicBezTo>
                    <a:pt x="17101" y="3750"/>
                    <a:pt x="26155" y="0"/>
                    <a:pt x="355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308959" cy="2958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sz="2199" spc="48">
                  <a:solidFill>
                    <a:srgbClr val="0F1519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Future Scope</a:t>
              </a:r>
            </a:p>
          </p:txBody>
        </p:sp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127801" y="5157424"/>
            <a:ext cx="2318049" cy="2334983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212890" y="5246620"/>
            <a:ext cx="1475849" cy="2192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1DAF8">
                <a:alpha val="100000"/>
              </a:srgbClr>
            </a:gs>
            <a:gs pos="100000">
              <a:srgbClr val="D4F0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7226" y="534752"/>
            <a:ext cx="9545950" cy="6723048"/>
            <a:chOff x="0" y="0"/>
            <a:chExt cx="5557619" cy="3914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57620" cy="3914134"/>
            </a:xfrm>
            <a:custGeom>
              <a:avLst/>
              <a:gdLst/>
              <a:ahLst/>
              <a:cxnLst/>
              <a:rect r="r" b="b" t="t" l="l"/>
              <a:pathLst>
                <a:path h="3914134" w="5557620">
                  <a:moveTo>
                    <a:pt x="53932" y="3346126"/>
                  </a:moveTo>
                  <a:cubicBezTo>
                    <a:pt x="53932" y="3346126"/>
                    <a:pt x="-9098" y="3099562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4669778" y="456"/>
                  </a:cubicBezTo>
                  <a:cubicBezTo>
                    <a:pt x="4886527" y="10310"/>
                    <a:pt x="5090842" y="29972"/>
                    <a:pt x="5225030" y="95181"/>
                  </a:cubicBezTo>
                  <a:cubicBezTo>
                    <a:pt x="5481076" y="219611"/>
                    <a:pt x="5562851" y="452651"/>
                    <a:pt x="5557363" y="698175"/>
                  </a:cubicBezTo>
                  <a:cubicBezTo>
                    <a:pt x="5557363" y="698175"/>
                    <a:pt x="5514075" y="1006564"/>
                    <a:pt x="5521509" y="1242098"/>
                  </a:cubicBezTo>
                  <a:cubicBezTo>
                    <a:pt x="5528632" y="3087928"/>
                    <a:pt x="5535789" y="3283531"/>
                    <a:pt x="5535789" y="3283531"/>
                  </a:cubicBezTo>
                  <a:cubicBezTo>
                    <a:pt x="5519107" y="3499263"/>
                    <a:pt x="5404463" y="3709875"/>
                    <a:pt x="5207594" y="3821499"/>
                  </a:cubicBezTo>
                  <a:cubicBezTo>
                    <a:pt x="5057242" y="3906748"/>
                    <a:pt x="4859212" y="3921845"/>
                    <a:pt x="3855973" y="3911104"/>
                  </a:cubicBezTo>
                  <a:cubicBezTo>
                    <a:pt x="636854" y="3905827"/>
                    <a:pt x="375506" y="3939680"/>
                    <a:pt x="245180" y="3830522"/>
                  </a:cubicBezTo>
                  <a:cubicBezTo>
                    <a:pt x="136669" y="3739637"/>
                    <a:pt x="72697" y="3546325"/>
                    <a:pt x="53932" y="33461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20984" y="-130467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7" y="0"/>
                </a:lnTo>
                <a:lnTo>
                  <a:pt x="1839837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54789" y="-351715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8" y="0"/>
                </a:lnTo>
                <a:lnTo>
                  <a:pt x="1839838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825516" y="1085044"/>
            <a:ext cx="7310198" cy="672349"/>
            <a:chOff x="0" y="0"/>
            <a:chExt cx="2933024" cy="2697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33024" cy="269762"/>
            </a:xfrm>
            <a:custGeom>
              <a:avLst/>
              <a:gdLst/>
              <a:ahLst/>
              <a:cxnLst/>
              <a:rect r="r" b="b" t="t" l="l"/>
              <a:pathLst>
                <a:path h="269762" w="2933024">
                  <a:moveTo>
                    <a:pt x="15886" y="0"/>
                  </a:moveTo>
                  <a:lnTo>
                    <a:pt x="2917138" y="0"/>
                  </a:lnTo>
                  <a:cubicBezTo>
                    <a:pt x="2925912" y="0"/>
                    <a:pt x="2933024" y="7112"/>
                    <a:pt x="2933024" y="15886"/>
                  </a:cubicBezTo>
                  <a:lnTo>
                    <a:pt x="2933024" y="253876"/>
                  </a:lnTo>
                  <a:cubicBezTo>
                    <a:pt x="2933024" y="262650"/>
                    <a:pt x="2925912" y="269762"/>
                    <a:pt x="2917138" y="269762"/>
                  </a:cubicBezTo>
                  <a:lnTo>
                    <a:pt x="15886" y="269762"/>
                  </a:lnTo>
                  <a:cubicBezTo>
                    <a:pt x="11673" y="269762"/>
                    <a:pt x="7632" y="268089"/>
                    <a:pt x="4653" y="265109"/>
                  </a:cubicBezTo>
                  <a:cubicBezTo>
                    <a:pt x="1674" y="262130"/>
                    <a:pt x="0" y="258090"/>
                    <a:pt x="0" y="253876"/>
                  </a:cubicBezTo>
                  <a:lnTo>
                    <a:pt x="0" y="15886"/>
                  </a:lnTo>
                  <a:cubicBezTo>
                    <a:pt x="0" y="7112"/>
                    <a:pt x="7112" y="0"/>
                    <a:pt x="158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933024" cy="336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39"/>
                </a:lnSpc>
              </a:pPr>
              <a:r>
                <a:rPr lang="en-US" sz="3099" spc="68">
                  <a:solidFill>
                    <a:srgbClr val="0F1519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PROJECT IMHOTEP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563094" y="219794"/>
            <a:ext cx="1634214" cy="629915"/>
          </a:xfrm>
          <a:custGeom>
            <a:avLst/>
            <a:gdLst/>
            <a:ahLst/>
            <a:cxnLst/>
            <a:rect r="r" b="b" t="t" l="l"/>
            <a:pathLst>
              <a:path h="629915" w="1634214">
                <a:moveTo>
                  <a:pt x="0" y="0"/>
                </a:moveTo>
                <a:lnTo>
                  <a:pt x="1634215" y="0"/>
                </a:lnTo>
                <a:lnTo>
                  <a:pt x="1634215" y="629915"/>
                </a:lnTo>
                <a:lnTo>
                  <a:pt x="0" y="629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714791" y="2006850"/>
            <a:ext cx="3262417" cy="618610"/>
            <a:chOff x="0" y="0"/>
            <a:chExt cx="1308959" cy="2482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8959" cy="248201"/>
            </a:xfrm>
            <a:custGeom>
              <a:avLst/>
              <a:gdLst/>
              <a:ahLst/>
              <a:cxnLst/>
              <a:rect r="r" b="b" t="t" l="l"/>
              <a:pathLst>
                <a:path h="248201" w="1308959">
                  <a:moveTo>
                    <a:pt x="35596" y="0"/>
                  </a:moveTo>
                  <a:lnTo>
                    <a:pt x="1273363" y="0"/>
                  </a:lnTo>
                  <a:cubicBezTo>
                    <a:pt x="1282804" y="0"/>
                    <a:pt x="1291857" y="3750"/>
                    <a:pt x="1298533" y="10426"/>
                  </a:cubicBezTo>
                  <a:cubicBezTo>
                    <a:pt x="1305209" y="17101"/>
                    <a:pt x="1308959" y="26155"/>
                    <a:pt x="1308959" y="35596"/>
                  </a:cubicBezTo>
                  <a:lnTo>
                    <a:pt x="1308959" y="212605"/>
                  </a:lnTo>
                  <a:cubicBezTo>
                    <a:pt x="1308959" y="222046"/>
                    <a:pt x="1305209" y="231099"/>
                    <a:pt x="1298533" y="237775"/>
                  </a:cubicBezTo>
                  <a:cubicBezTo>
                    <a:pt x="1291857" y="244451"/>
                    <a:pt x="1282804" y="248201"/>
                    <a:pt x="1273363" y="248201"/>
                  </a:cubicBezTo>
                  <a:lnTo>
                    <a:pt x="35596" y="248201"/>
                  </a:lnTo>
                  <a:cubicBezTo>
                    <a:pt x="26155" y="248201"/>
                    <a:pt x="17101" y="244451"/>
                    <a:pt x="10426" y="237775"/>
                  </a:cubicBezTo>
                  <a:cubicBezTo>
                    <a:pt x="3750" y="231099"/>
                    <a:pt x="0" y="222046"/>
                    <a:pt x="0" y="212605"/>
                  </a:cubicBezTo>
                  <a:lnTo>
                    <a:pt x="0" y="35596"/>
                  </a:lnTo>
                  <a:cubicBezTo>
                    <a:pt x="0" y="26155"/>
                    <a:pt x="3750" y="17101"/>
                    <a:pt x="10426" y="10426"/>
                  </a:cubicBezTo>
                  <a:cubicBezTo>
                    <a:pt x="17101" y="3750"/>
                    <a:pt x="26155" y="0"/>
                    <a:pt x="355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08959" cy="2958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79"/>
                </a:lnSpc>
              </a:pPr>
              <a:r>
                <a:rPr lang="en-US" sz="2199" spc="48">
                  <a:solidFill>
                    <a:srgbClr val="0F1519"/>
                  </a:solidFill>
                  <a:latin typeface="Londrina Solid"/>
                  <a:ea typeface="Londrina Solid"/>
                  <a:cs typeface="Londrina Solid"/>
                  <a:sym typeface="Londrina Solid"/>
                </a:rPr>
                <a:t>Conclusion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98935" y="6064517"/>
            <a:ext cx="1633396" cy="1478966"/>
          </a:xfrm>
          <a:custGeom>
            <a:avLst/>
            <a:gdLst/>
            <a:ahLst/>
            <a:cxnLst/>
            <a:rect r="r" b="b" t="t" l="l"/>
            <a:pathLst>
              <a:path h="1478966" w="1633396">
                <a:moveTo>
                  <a:pt x="0" y="0"/>
                </a:moveTo>
                <a:lnTo>
                  <a:pt x="1633396" y="0"/>
                </a:lnTo>
                <a:lnTo>
                  <a:pt x="1633396" y="1478966"/>
                </a:lnTo>
                <a:lnTo>
                  <a:pt x="0" y="14789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958676" y="6166278"/>
            <a:ext cx="1733324" cy="1377205"/>
          </a:xfrm>
          <a:custGeom>
            <a:avLst/>
            <a:gdLst/>
            <a:ahLst/>
            <a:cxnLst/>
            <a:rect r="r" b="b" t="t" l="l"/>
            <a:pathLst>
              <a:path h="1377205" w="1733324">
                <a:moveTo>
                  <a:pt x="0" y="0"/>
                </a:moveTo>
                <a:lnTo>
                  <a:pt x="1733324" y="0"/>
                </a:lnTo>
                <a:lnTo>
                  <a:pt x="1733324" y="1377205"/>
                </a:lnTo>
                <a:lnTo>
                  <a:pt x="0" y="13772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35031" y="2844374"/>
            <a:ext cx="8790307" cy="3220144"/>
            <a:chOff x="0" y="0"/>
            <a:chExt cx="3150247" cy="11540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50247" cy="1154027"/>
            </a:xfrm>
            <a:custGeom>
              <a:avLst/>
              <a:gdLst/>
              <a:ahLst/>
              <a:cxnLst/>
              <a:rect r="r" b="b" t="t" l="l"/>
              <a:pathLst>
                <a:path h="1154027" w="3150247">
                  <a:moveTo>
                    <a:pt x="32587" y="0"/>
                  </a:moveTo>
                  <a:lnTo>
                    <a:pt x="3117660" y="0"/>
                  </a:lnTo>
                  <a:cubicBezTo>
                    <a:pt x="3135658" y="0"/>
                    <a:pt x="3150247" y="14590"/>
                    <a:pt x="3150247" y="32587"/>
                  </a:cubicBezTo>
                  <a:lnTo>
                    <a:pt x="3150247" y="1121440"/>
                  </a:lnTo>
                  <a:cubicBezTo>
                    <a:pt x="3150247" y="1130082"/>
                    <a:pt x="3146814" y="1138371"/>
                    <a:pt x="3140703" y="1144482"/>
                  </a:cubicBezTo>
                  <a:cubicBezTo>
                    <a:pt x="3134592" y="1150593"/>
                    <a:pt x="3126303" y="1154027"/>
                    <a:pt x="3117660" y="1154027"/>
                  </a:cubicBezTo>
                  <a:lnTo>
                    <a:pt x="32587" y="1154027"/>
                  </a:lnTo>
                  <a:cubicBezTo>
                    <a:pt x="23945" y="1154027"/>
                    <a:pt x="15656" y="1150593"/>
                    <a:pt x="9545" y="1144482"/>
                  </a:cubicBezTo>
                  <a:cubicBezTo>
                    <a:pt x="3433" y="1138371"/>
                    <a:pt x="0" y="1130082"/>
                    <a:pt x="0" y="1121440"/>
                  </a:cubicBezTo>
                  <a:lnTo>
                    <a:pt x="0" y="32587"/>
                  </a:lnTo>
                  <a:cubicBezTo>
                    <a:pt x="0" y="23945"/>
                    <a:pt x="3433" y="15656"/>
                    <a:pt x="9545" y="9545"/>
                  </a:cubicBezTo>
                  <a:cubicBezTo>
                    <a:pt x="15656" y="3433"/>
                    <a:pt x="23945" y="0"/>
                    <a:pt x="325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1DAF8">
                    <a:alpha val="100000"/>
                  </a:srgbClr>
                </a:gs>
                <a:gs pos="100000">
                  <a:srgbClr val="D4F0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150247" cy="1182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  <a:r>
                <a:rPr lang="en-US" b="true" sz="1700" spc="37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“Technology can’t heal, but it can help heal smarter.” </a:t>
              </a:r>
            </a:p>
            <a:p>
              <a:pPr algn="ctr">
                <a:lnSpc>
                  <a:spcPts val="2380"/>
                </a:lnSpc>
              </a:pPr>
              <a:r>
                <a:rPr lang="en-US" b="true" sz="1700" spc="37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Imhotep brings doctors, patients, and pharmacists together in one digital system — making healthcare faster, smarter, and more connected.</a:t>
              </a:r>
            </a:p>
          </p:txBody>
        </p:sp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033540" y="4784688"/>
            <a:ext cx="2015093" cy="26577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1DAF8">
                <a:alpha val="100000"/>
              </a:srgbClr>
            </a:gs>
            <a:gs pos="100000">
              <a:srgbClr val="D4F0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3025" y="630482"/>
            <a:ext cx="9545950" cy="6723048"/>
            <a:chOff x="0" y="0"/>
            <a:chExt cx="5557619" cy="3914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57620" cy="3914134"/>
            </a:xfrm>
            <a:custGeom>
              <a:avLst/>
              <a:gdLst/>
              <a:ahLst/>
              <a:cxnLst/>
              <a:rect r="r" b="b" t="t" l="l"/>
              <a:pathLst>
                <a:path h="3914134" w="5557620">
                  <a:moveTo>
                    <a:pt x="53932" y="3346126"/>
                  </a:moveTo>
                  <a:cubicBezTo>
                    <a:pt x="53932" y="3346126"/>
                    <a:pt x="-9098" y="3099562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4669778" y="456"/>
                  </a:cubicBezTo>
                  <a:cubicBezTo>
                    <a:pt x="4886527" y="10310"/>
                    <a:pt x="5090842" y="29972"/>
                    <a:pt x="5225030" y="95181"/>
                  </a:cubicBezTo>
                  <a:cubicBezTo>
                    <a:pt x="5481076" y="219611"/>
                    <a:pt x="5562851" y="452651"/>
                    <a:pt x="5557363" y="698175"/>
                  </a:cubicBezTo>
                  <a:cubicBezTo>
                    <a:pt x="5557363" y="698175"/>
                    <a:pt x="5514075" y="1006564"/>
                    <a:pt x="5521509" y="1242098"/>
                  </a:cubicBezTo>
                  <a:cubicBezTo>
                    <a:pt x="5528632" y="3087928"/>
                    <a:pt x="5535789" y="3283531"/>
                    <a:pt x="5535789" y="3283531"/>
                  </a:cubicBezTo>
                  <a:cubicBezTo>
                    <a:pt x="5519107" y="3499263"/>
                    <a:pt x="5404463" y="3709875"/>
                    <a:pt x="5207594" y="3821499"/>
                  </a:cubicBezTo>
                  <a:cubicBezTo>
                    <a:pt x="5057242" y="3906748"/>
                    <a:pt x="4859212" y="3921845"/>
                    <a:pt x="3855973" y="3911104"/>
                  </a:cubicBezTo>
                  <a:cubicBezTo>
                    <a:pt x="636854" y="3905827"/>
                    <a:pt x="375506" y="3939680"/>
                    <a:pt x="245180" y="3830522"/>
                  </a:cubicBezTo>
                  <a:cubicBezTo>
                    <a:pt x="136669" y="3739637"/>
                    <a:pt x="72697" y="3546325"/>
                    <a:pt x="53932" y="33461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20984" y="-130467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7" y="0"/>
                </a:lnTo>
                <a:lnTo>
                  <a:pt x="1839837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54789" y="-351715"/>
            <a:ext cx="1839837" cy="1772934"/>
          </a:xfrm>
          <a:custGeom>
            <a:avLst/>
            <a:gdLst/>
            <a:ahLst/>
            <a:cxnLst/>
            <a:rect r="r" b="b" t="t" l="l"/>
            <a:pathLst>
              <a:path h="1772934" w="1839837">
                <a:moveTo>
                  <a:pt x="0" y="0"/>
                </a:moveTo>
                <a:lnTo>
                  <a:pt x="1839838" y="0"/>
                </a:lnTo>
                <a:lnTo>
                  <a:pt x="1839838" y="1772934"/>
                </a:lnTo>
                <a:lnTo>
                  <a:pt x="0" y="1772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63094" y="219794"/>
            <a:ext cx="1634214" cy="629915"/>
          </a:xfrm>
          <a:custGeom>
            <a:avLst/>
            <a:gdLst/>
            <a:ahLst/>
            <a:cxnLst/>
            <a:rect r="r" b="b" t="t" l="l"/>
            <a:pathLst>
              <a:path h="629915" w="1634214">
                <a:moveTo>
                  <a:pt x="0" y="0"/>
                </a:moveTo>
                <a:lnTo>
                  <a:pt x="1634215" y="0"/>
                </a:lnTo>
                <a:lnTo>
                  <a:pt x="1634215" y="629915"/>
                </a:lnTo>
                <a:lnTo>
                  <a:pt x="0" y="629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753152" y="1020566"/>
            <a:ext cx="5067338" cy="1243801"/>
          </a:xfrm>
          <a:custGeom>
            <a:avLst/>
            <a:gdLst/>
            <a:ahLst/>
            <a:cxnLst/>
            <a:rect r="r" b="b" t="t" l="l"/>
            <a:pathLst>
              <a:path h="1243801" w="5067338">
                <a:moveTo>
                  <a:pt x="0" y="0"/>
                </a:moveTo>
                <a:lnTo>
                  <a:pt x="5067338" y="0"/>
                </a:lnTo>
                <a:lnTo>
                  <a:pt x="5067338" y="1243802"/>
                </a:lnTo>
                <a:lnTo>
                  <a:pt x="0" y="12438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4696017" y="2076749"/>
            <a:ext cx="3002583" cy="2897493"/>
          </a:xfrm>
          <a:prstGeom prst="rect">
            <a:avLst/>
          </a:prstGeom>
        </p:spPr>
      </p:pic>
      <p:sp>
        <p:nvSpPr>
          <p:cNvPr name="Freeform 9" id="9"/>
          <p:cNvSpPr/>
          <p:nvPr/>
        </p:nvSpPr>
        <p:spPr>
          <a:xfrm flipH="false" flipV="false" rot="0">
            <a:off x="298935" y="6064517"/>
            <a:ext cx="1633396" cy="1478966"/>
          </a:xfrm>
          <a:custGeom>
            <a:avLst/>
            <a:gdLst/>
            <a:ahLst/>
            <a:cxnLst/>
            <a:rect r="r" b="b" t="t" l="l"/>
            <a:pathLst>
              <a:path h="1478966" w="1633396">
                <a:moveTo>
                  <a:pt x="0" y="0"/>
                </a:moveTo>
                <a:lnTo>
                  <a:pt x="1633396" y="0"/>
                </a:lnTo>
                <a:lnTo>
                  <a:pt x="1633396" y="1478966"/>
                </a:lnTo>
                <a:lnTo>
                  <a:pt x="0" y="14789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958676" y="6150829"/>
            <a:ext cx="1733324" cy="1377205"/>
          </a:xfrm>
          <a:custGeom>
            <a:avLst/>
            <a:gdLst/>
            <a:ahLst/>
            <a:cxnLst/>
            <a:rect r="r" b="b" t="t" l="l"/>
            <a:pathLst>
              <a:path h="1377205" w="1733324">
                <a:moveTo>
                  <a:pt x="0" y="0"/>
                </a:moveTo>
                <a:lnTo>
                  <a:pt x="1733324" y="0"/>
                </a:lnTo>
                <a:lnTo>
                  <a:pt x="1733324" y="1377205"/>
                </a:lnTo>
                <a:lnTo>
                  <a:pt x="0" y="137720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rcRect l="0" t="0" r="0" b="0"/>
          <a:stretch>
            <a:fillRect/>
          </a:stretch>
        </p:blipFill>
        <p:spPr>
          <a:xfrm flipH="false" flipV="false" rot="0">
            <a:off x="1556949" y="3330656"/>
            <a:ext cx="3471986" cy="36015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DAGob7LO25M</dc:identifier>
  <dcterms:modified xsi:type="dcterms:W3CDTF">2011-08-01T06:04:30Z</dcterms:modified>
  <cp:revision>1</cp:revision>
  <dc:title>Blue Creative Illustrative Main Idea Graphic Organizer</dc:title>
</cp:coreProperties>
</file>